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70" r:id="rId4"/>
    <p:sldId id="263" r:id="rId5"/>
    <p:sldId id="327" r:id="rId6"/>
    <p:sldId id="328" r:id="rId7"/>
    <p:sldId id="315" r:id="rId8"/>
    <p:sldId id="264" r:id="rId9"/>
    <p:sldId id="329" r:id="rId10"/>
    <p:sldId id="330" r:id="rId11"/>
    <p:sldId id="331" r:id="rId12"/>
    <p:sldId id="316" r:id="rId13"/>
    <p:sldId id="265" r:id="rId14"/>
    <p:sldId id="317" r:id="rId15"/>
    <p:sldId id="319" r:id="rId16"/>
    <p:sldId id="320" r:id="rId17"/>
    <p:sldId id="332" r:id="rId18"/>
    <p:sldId id="334" r:id="rId19"/>
    <p:sldId id="335" r:id="rId20"/>
    <p:sldId id="325" r:id="rId21"/>
    <p:sldId id="326" r:id="rId22"/>
    <p:sldId id="336" r:id="rId23"/>
    <p:sldId id="31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9ED7"/>
    <a:srgbClr val="1279C5"/>
    <a:srgbClr val="D2D5D3"/>
    <a:srgbClr val="F0F5F3"/>
    <a:srgbClr val="FF0D70"/>
    <a:srgbClr val="002060"/>
    <a:srgbClr val="7B0659"/>
    <a:srgbClr val="58BC00"/>
    <a:srgbClr val="F92A39"/>
    <a:srgbClr val="6DA2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743B02-90A6-40EC-B142-DA3ED758BB48}" v="1939" dt="2025-12-18T23:59:42.1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1" autoAdjust="0"/>
    <p:restoredTop sz="94660"/>
  </p:normalViewPr>
  <p:slideViewPr>
    <p:cSldViewPr snapToGrid="0">
      <p:cViewPr varScale="1">
        <p:scale>
          <a:sx n="87" d="100"/>
          <a:sy n="87" d="100"/>
        </p:scale>
        <p:origin x="557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78A6B-4E86-4988-9837-18B842099DF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E46FC-AE19-400D-BEE5-978CE1B1D7F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7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E46FC-AE19-400D-BEE5-978CE1B1D7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01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E46FC-AE19-400D-BEE5-978CE1B1D7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31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11162-9862-A209-A6A8-ABE1E3796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B42B5-690C-949F-C678-E5EC826F2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DB238-CEC2-A1B9-D683-0EA096E68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63431-DB12-9476-5B47-E3F9BBB8F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E46FC-AE19-400D-BEE5-978CE1B1D7F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78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4E441-2D4D-6149-2350-FFDE74A0B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D8EC7-8737-AA97-2839-AD9F52468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F8504-2D04-1AF6-F356-5D36A7BE7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66EBA-FCFA-7218-9236-8402458ED0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E46FC-AE19-400D-BEE5-978CE1B1D7F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14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A791C-29D2-CC9F-757B-B54CC2282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97E6B-D99B-06A9-12CB-B5365E0C6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B8501-7435-70B4-9841-7BF53091B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46AC-6ADA-4E6D-A62A-392685CC980E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439AC-DA21-180E-EE32-F6FAA01D0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AC49E-7034-7857-EE88-B1F91A31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A9F48-800A-4D96-9A1D-DA267422EF1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28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AF91B-01E4-8342-C4F4-9E04B87C2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2FE7F-D252-CA1E-4A34-1DAEE081F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B71EE-3E36-F9BB-CDFC-E0CCF7ABD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46AC-6ADA-4E6D-A62A-392685CC980E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B89DE-1059-42F1-73B9-868AFB88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90D80-0502-C696-65D4-F6D9EA9F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A9F48-800A-4D96-9A1D-DA267422EF1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75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4F31E-8364-4F97-C1F4-562C6968F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533DB-92A5-3521-08E7-568B97640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75DDE-CAAF-D263-F5E7-DAF2E37E1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46AC-6ADA-4E6D-A62A-392685CC980E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FC4D5-1960-AF13-8906-603BCD62D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DE50F-8164-A16C-9742-3A9FC6125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A9F48-800A-4D96-9A1D-DA267422EF1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55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533A5-E104-3C38-2660-4C26426AE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C56D4-0C38-5796-5EEC-0DD299048E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1C0C1-5E35-B235-F081-6CF768E68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AF164-65D1-C02B-4743-F45FC9DF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46AC-6ADA-4E6D-A62A-392685CC980E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35936-EE35-227B-CF31-6C11A734F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C231E-68FC-53E8-D4B0-B1397E85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A9F48-800A-4D96-9A1D-DA267422EF1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15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9EF0F-690A-3A80-40A1-ECA072117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933C2-0205-73B6-BB71-DA29031EF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3D2B1-5C02-5B59-6265-6F1DB0ECC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2E4929-3531-64C1-C2A0-07590E567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F6D6C-8FB5-FD9A-4EA3-3EE619F8AB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BF9ECF-2E0E-8FB1-D2B3-AA75A839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46AC-6ADA-4E6D-A62A-392685CC980E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03F1BB-7376-3CD7-38D0-44B32FE62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56025-A5A1-FFC8-6B52-D6A112EB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A9F48-800A-4D96-9A1D-DA267422EF1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34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6AA4F-1CB7-B6D7-5463-FDE63DE2E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E85ED-586D-189B-4218-8670A56F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46AC-6ADA-4E6D-A62A-392685CC980E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BB3A6F-567F-6F3F-A9DF-59DE6A99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BC7015-A094-2708-67D9-619BF487D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A9F48-800A-4D96-9A1D-DA267422EF1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33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13E92-8177-FF06-5645-D516AE803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46AC-6ADA-4E6D-A62A-392685CC980E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9381E7-8ED3-3553-03A0-B9B936A0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A5B37-86A6-F1ED-6E1B-4A5582554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A9F48-800A-4D96-9A1D-DA267422EF1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51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B92E-A81C-EB2E-B5EF-EDADCB455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61149-257A-62E4-8AA1-9A453B7FE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4FCB2-111C-03F1-5C7B-CB4F73C2E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9A3CE-A528-183E-3733-BAA3D16F6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46AC-6ADA-4E6D-A62A-392685CC980E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8AC7E-CC6A-8FAC-33EA-E1A28A525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0DF22-F875-EA3F-097D-414B812C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A9F48-800A-4D96-9A1D-DA267422EF1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3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B907-CC5E-9736-05C8-5A219428F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1C5CFA-E882-AA47-B7ED-FCD924FE5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0C01D-3BDC-83F0-6FED-E88DD1CFE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F509A-65A4-E8D3-62A5-C860C36D4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46AC-6ADA-4E6D-A62A-392685CC980E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06BA2-E1FE-CAC0-7424-099479D5B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59A9F-94FE-6752-9A77-2F5D66FB2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A9F48-800A-4D96-9A1D-DA267422EF1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6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48716-9D0A-8165-40DE-1ADFFDCFC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D638D-CAC2-8B9C-3A99-00DEC6B4A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5CD31-05A9-FCFF-D168-E0D667B12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46AC-6ADA-4E6D-A62A-392685CC980E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2C714-8B71-4FEB-D98E-C7F90FA60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B76AC-2BB3-7F1F-158D-77D1B088B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A9F48-800A-4D96-9A1D-DA267422EF1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77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A5EA8-557F-8F77-4340-11E62479EA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28AB2-3A1A-1239-DB3F-CC8F3DCC2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8CD71-9109-006A-EDB4-297ECAB70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46AC-6ADA-4E6D-A62A-392685CC980E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3951B-167F-88AD-2D96-1973F513A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BA922-B29D-FDE3-30B0-038FBD3F3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A9F48-800A-4D96-9A1D-DA267422EF1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667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3EDC31-A75F-63FF-F644-6875C174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22A98-3E2F-45F0-34B2-55EC2B59E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6BC98-6C27-613C-D893-4002AB258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046AC-6ADA-4E6D-A62A-392685CC980E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239A6-F787-1290-0208-B1CFCE0DA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41914-8621-D571-FA6C-AE92FD87C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2A9F48-800A-4D96-9A1D-DA267422EF1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09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3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442AB1-65C3-7A90-FDFC-438187EBB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9C91F955-7084-F7C3-E98A-83D8C3471E45}"/>
              </a:ext>
            </a:extLst>
          </p:cNvPr>
          <p:cNvSpPr/>
          <p:nvPr/>
        </p:nvSpPr>
        <p:spPr>
          <a:xfrm>
            <a:off x="10201584" y="5691132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5669BE9-2539-4FF9-5D27-1E37A35C9657}"/>
              </a:ext>
            </a:extLst>
          </p:cNvPr>
          <p:cNvSpPr/>
          <p:nvPr/>
        </p:nvSpPr>
        <p:spPr>
          <a:xfrm>
            <a:off x="0" y="5913612"/>
            <a:ext cx="2657476" cy="2628900"/>
          </a:xfrm>
          <a:prstGeom prst="ellipse">
            <a:avLst/>
          </a:prstGeom>
          <a:solidFill>
            <a:srgbClr val="1279C5"/>
          </a:solidFill>
          <a:ln>
            <a:noFill/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6954DB4-1B3E-B679-BF67-444D5C401125}"/>
              </a:ext>
            </a:extLst>
          </p:cNvPr>
          <p:cNvSpPr/>
          <p:nvPr/>
        </p:nvSpPr>
        <p:spPr>
          <a:xfrm>
            <a:off x="11012591" y="40475"/>
            <a:ext cx="1943100" cy="1876425"/>
          </a:xfrm>
          <a:prstGeom prst="ellipse">
            <a:avLst/>
          </a:prstGeom>
          <a:solidFill>
            <a:srgbClr val="F0F5F3"/>
          </a:solidFill>
          <a:ln>
            <a:noFill/>
          </a:ln>
          <a:effectLst>
            <a:outerShdw blurRad="457200" dist="177800" dir="5400000" sx="102000" sy="102000" algn="t" rotWithShape="0">
              <a:schemeClr val="bg2">
                <a:lumMod val="75000"/>
                <a:alpha val="40000"/>
              </a:scheme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21" name="Picture 20" descr="A blue and black sign with a statue in the middle">
            <a:extLst>
              <a:ext uri="{FF2B5EF4-FFF2-40B4-BE49-F238E27FC236}">
                <a16:creationId xmlns:a16="http://schemas.microsoft.com/office/drawing/2014/main" id="{100137CD-387D-E934-79E2-1454B0B71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318" y="519397"/>
            <a:ext cx="2441933" cy="112653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360E6DD-9593-799F-E69D-F2D0750B1967}"/>
              </a:ext>
            </a:extLst>
          </p:cNvPr>
          <p:cNvSpPr txBox="1"/>
          <p:nvPr/>
        </p:nvSpPr>
        <p:spPr>
          <a:xfrm>
            <a:off x="1603784" y="2466609"/>
            <a:ext cx="8984428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3600" b="1" dirty="0">
                <a:ea typeface="+mn-lt"/>
                <a:cs typeface="+mn-lt"/>
              </a:rPr>
              <a:t>Multi-Client Chat System with Lamport Clock Synchronization</a:t>
            </a:r>
            <a:endParaRPr lang="fr-FR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B2F29C-6FC1-2D04-1D7E-4AAA41C8370F}"/>
              </a:ext>
            </a:extLst>
          </p:cNvPr>
          <p:cNvSpPr txBox="1"/>
          <p:nvPr/>
        </p:nvSpPr>
        <p:spPr>
          <a:xfrm>
            <a:off x="2501232" y="4631272"/>
            <a:ext cx="7276094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fr-FR" sz="2000">
                <a:ea typeface="+mn-lt"/>
                <a:cs typeface="+mn-lt"/>
              </a:rPr>
              <a:t>Realized by:</a:t>
            </a:r>
            <a:r>
              <a:rPr lang="fr-FR" sz="2000"/>
              <a:t> </a:t>
            </a:r>
            <a:r>
              <a:rPr lang="fr-FR" sz="2000" noProof="0"/>
              <a:t>: </a:t>
            </a:r>
            <a:r>
              <a:rPr lang="fr-FR" sz="2400" b="1" noProof="0" dirty="0" err="1"/>
              <a:t>Bahaeddine</a:t>
            </a:r>
            <a:r>
              <a:rPr lang="fr-FR" sz="2400" b="1" noProof="0" dirty="0"/>
              <a:t> Hamrouni &amp; Amir Ben </a:t>
            </a:r>
            <a:r>
              <a:rPr lang="fr-FR" sz="2400" b="1" noProof="0" dirty="0" err="1"/>
              <a:t>Rejeb</a:t>
            </a:r>
            <a:endParaRPr lang="fr-FR" sz="2400" b="1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59D390-11C9-C761-BA38-93939C98BBEF}"/>
              </a:ext>
            </a:extLst>
          </p:cNvPr>
          <p:cNvSpPr txBox="1"/>
          <p:nvPr/>
        </p:nvSpPr>
        <p:spPr>
          <a:xfrm>
            <a:off x="4786855" y="1714028"/>
            <a:ext cx="3100781" cy="409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/>
              <a:t>Distributed Systems </a:t>
            </a:r>
            <a:endParaRPr lang="fr-FR" sz="2000" noProof="0"/>
          </a:p>
        </p:txBody>
      </p:sp>
    </p:spTree>
    <p:extLst>
      <p:ext uri="{BB962C8B-B14F-4D97-AF65-F5344CB8AC3E}">
        <p14:creationId xmlns:p14="http://schemas.microsoft.com/office/powerpoint/2010/main" val="3914014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3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6B87A5-BF7A-F114-2B46-466D431F1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B19E5C2-2A32-BCF7-78F8-8227EDD22542}"/>
              </a:ext>
            </a:extLst>
          </p:cNvPr>
          <p:cNvSpPr/>
          <p:nvPr/>
        </p:nvSpPr>
        <p:spPr>
          <a:xfrm>
            <a:off x="7700410" y="-809625"/>
            <a:ext cx="695325" cy="666750"/>
          </a:xfrm>
          <a:prstGeom prst="rect">
            <a:avLst/>
          </a:prstGeom>
          <a:solidFill>
            <a:srgbClr val="714B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C77C97-7FF2-478B-2653-3B74D380EFB8}"/>
              </a:ext>
            </a:extLst>
          </p:cNvPr>
          <p:cNvSpPr/>
          <p:nvPr/>
        </p:nvSpPr>
        <p:spPr>
          <a:xfrm>
            <a:off x="8438598" y="-809625"/>
            <a:ext cx="695325" cy="666750"/>
          </a:xfrm>
          <a:prstGeom prst="rect">
            <a:avLst/>
          </a:prstGeom>
          <a:solidFill>
            <a:srgbClr val="017E8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222CD5-59F7-5BA7-C557-5B71B3837E6A}"/>
              </a:ext>
            </a:extLst>
          </p:cNvPr>
          <p:cNvSpPr/>
          <p:nvPr/>
        </p:nvSpPr>
        <p:spPr>
          <a:xfrm>
            <a:off x="9176786" y="-809625"/>
            <a:ext cx="695325" cy="666750"/>
          </a:xfrm>
          <a:prstGeom prst="rect">
            <a:avLst/>
          </a:prstGeom>
          <a:solidFill>
            <a:srgbClr val="F0F5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AFAF03-C2B9-0BC6-91BD-340936AEE1E7}"/>
              </a:ext>
            </a:extLst>
          </p:cNvPr>
          <p:cNvSpPr/>
          <p:nvPr/>
        </p:nvSpPr>
        <p:spPr>
          <a:xfrm>
            <a:off x="9910211" y="-809625"/>
            <a:ext cx="695325" cy="666750"/>
          </a:xfrm>
          <a:prstGeom prst="rect">
            <a:avLst/>
          </a:prstGeom>
          <a:solidFill>
            <a:srgbClr val="58B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DA3E41-DE1A-AB2C-2603-2B5D29F92555}"/>
              </a:ext>
            </a:extLst>
          </p:cNvPr>
          <p:cNvSpPr/>
          <p:nvPr/>
        </p:nvSpPr>
        <p:spPr>
          <a:xfrm>
            <a:off x="10643636" y="-809625"/>
            <a:ext cx="695325" cy="666750"/>
          </a:xfrm>
          <a:prstGeom prst="rect">
            <a:avLst/>
          </a:prstGeom>
          <a:solidFill>
            <a:srgbClr val="7B06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F42BF17-D9EB-9270-E614-21CBCCFA878B}"/>
              </a:ext>
            </a:extLst>
          </p:cNvPr>
          <p:cNvSpPr/>
          <p:nvPr/>
        </p:nvSpPr>
        <p:spPr>
          <a:xfrm>
            <a:off x="-3751521" y="-233364"/>
            <a:ext cx="7315200" cy="7324725"/>
          </a:xfrm>
          <a:prstGeom prst="ellipse">
            <a:avLst/>
          </a:prstGeom>
          <a:solidFill>
            <a:srgbClr val="1279C5"/>
          </a:solidFill>
          <a:ln>
            <a:noFill/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0" b="1" noProof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3D2DB3-A97D-A56C-8538-3D5127A6EB45}"/>
              </a:ext>
            </a:extLst>
          </p:cNvPr>
          <p:cNvSpPr txBox="1"/>
          <p:nvPr/>
        </p:nvSpPr>
        <p:spPr>
          <a:xfrm>
            <a:off x="701756" y="2721113"/>
            <a:ext cx="287011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200" b="1" noProof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</a:t>
            </a:r>
          </a:p>
          <a:p>
            <a:endParaRPr lang="fr-FR" sz="1200" noProof="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2A2CF2A-5F20-BB72-92F5-C07B21F7C3D0}"/>
              </a:ext>
            </a:extLst>
          </p:cNvPr>
          <p:cNvGrpSpPr/>
          <p:nvPr/>
        </p:nvGrpSpPr>
        <p:grpSpPr>
          <a:xfrm>
            <a:off x="3394908" y="785758"/>
            <a:ext cx="5679770" cy="695325"/>
            <a:chOff x="4293670" y="590549"/>
            <a:chExt cx="5679770" cy="695325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6FA2037-A5C5-B1B1-82F5-9CF555416F4B}"/>
                </a:ext>
              </a:extLst>
            </p:cNvPr>
            <p:cNvSpPr/>
            <p:nvPr/>
          </p:nvSpPr>
          <p:spPr>
            <a:xfrm>
              <a:off x="4293670" y="590549"/>
              <a:ext cx="681591" cy="695325"/>
            </a:xfrm>
            <a:prstGeom prst="ellipse">
              <a:avLst/>
            </a:prstGeom>
            <a:solidFill>
              <a:srgbClr val="F0F5F3"/>
            </a:solidFill>
            <a:ln w="34925">
              <a:solidFill>
                <a:srgbClr val="7C9ED7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9900F72-C960-ADBA-7338-CF64DC2D2431}"/>
                </a:ext>
              </a:extLst>
            </p:cNvPr>
            <p:cNvSpPr txBox="1"/>
            <p:nvPr/>
          </p:nvSpPr>
          <p:spPr>
            <a:xfrm>
              <a:off x="5204860" y="647698"/>
              <a:ext cx="47685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B37355B-8F28-CA6F-3F4D-D46C839560CD}"/>
              </a:ext>
            </a:extLst>
          </p:cNvPr>
          <p:cNvGrpSpPr/>
          <p:nvPr/>
        </p:nvGrpSpPr>
        <p:grpSpPr>
          <a:xfrm>
            <a:off x="3862630" y="1893166"/>
            <a:ext cx="7044061" cy="695325"/>
            <a:chOff x="4854593" y="1739324"/>
            <a:chExt cx="7044061" cy="69532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B32873F-5BFD-F387-029F-B5EA28FF4825}"/>
                </a:ext>
              </a:extLst>
            </p:cNvPr>
            <p:cNvSpPr/>
            <p:nvPr/>
          </p:nvSpPr>
          <p:spPr>
            <a:xfrm>
              <a:off x="4854593" y="1739324"/>
              <a:ext cx="681591" cy="695325"/>
            </a:xfrm>
            <a:prstGeom prst="ellipse">
              <a:avLst/>
            </a:prstGeom>
            <a:solidFill>
              <a:srgbClr val="F0F5F3"/>
            </a:solidFill>
            <a:ln w="34925">
              <a:solidFill>
                <a:srgbClr val="7C9ED7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2444A10-48AA-BB31-0087-D8E6CBF54D1B}"/>
                </a:ext>
              </a:extLst>
            </p:cNvPr>
            <p:cNvSpPr txBox="1"/>
            <p:nvPr/>
          </p:nvSpPr>
          <p:spPr>
            <a:xfrm>
              <a:off x="5765783" y="1757891"/>
              <a:ext cx="6132871" cy="5847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fr-FR" sz="3200" dirty="0">
                  <a:latin typeface="Segoe UI"/>
                  <a:ea typeface="+mn-lt"/>
                  <a:cs typeface="Segoe UI"/>
                </a:rPr>
                <a:t>System </a:t>
              </a:r>
              <a:r>
                <a:rPr lang="fr-FR" sz="3200" dirty="0" err="1">
                  <a:latin typeface="Segoe UI"/>
                  <a:ea typeface="+mn-lt"/>
                  <a:cs typeface="Segoe UI"/>
                </a:rPr>
                <a:t>Overview</a:t>
              </a:r>
              <a:r>
                <a:rPr lang="fr-FR" sz="3200" dirty="0">
                  <a:latin typeface="Segoe UI"/>
                  <a:ea typeface="+mn-lt"/>
                  <a:cs typeface="Segoe UI"/>
                </a:rPr>
                <a:t> &amp; Architecture</a:t>
              </a:r>
              <a:endParaRPr lang="fr-FR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7E02D34-4CB6-165B-A73D-3A6A389B4472}"/>
              </a:ext>
            </a:extLst>
          </p:cNvPr>
          <p:cNvGrpSpPr/>
          <p:nvPr/>
        </p:nvGrpSpPr>
        <p:grpSpPr>
          <a:xfrm>
            <a:off x="4076499" y="3100453"/>
            <a:ext cx="7567367" cy="695325"/>
            <a:chOff x="5031858" y="2888099"/>
            <a:chExt cx="7567367" cy="69532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B502215-35C9-AEA3-D8E6-1A52E179A258}"/>
                </a:ext>
              </a:extLst>
            </p:cNvPr>
            <p:cNvSpPr/>
            <p:nvPr/>
          </p:nvSpPr>
          <p:spPr>
            <a:xfrm>
              <a:off x="5031858" y="2888099"/>
              <a:ext cx="681591" cy="695325"/>
            </a:xfrm>
            <a:prstGeom prst="ellipse">
              <a:avLst/>
            </a:prstGeom>
            <a:solidFill>
              <a:srgbClr val="F0F5F3"/>
            </a:solidFill>
            <a:ln w="34925">
              <a:solidFill>
                <a:srgbClr val="7C9ED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C8D950B-F177-6204-D855-6E24DA6F949E}"/>
                </a:ext>
              </a:extLst>
            </p:cNvPr>
            <p:cNvSpPr txBox="1"/>
            <p:nvPr/>
          </p:nvSpPr>
          <p:spPr>
            <a:xfrm>
              <a:off x="5901258" y="2896403"/>
              <a:ext cx="6697967" cy="5847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fr-FR" sz="3200" dirty="0">
                  <a:latin typeface="Segoe UI"/>
                  <a:ea typeface="+mn-lt"/>
                  <a:cs typeface="Segoe UI"/>
                </a:rPr>
                <a:t>Communication &amp; </a:t>
              </a:r>
              <a:r>
                <a:rPr lang="fr-FR" sz="3200" dirty="0" err="1">
                  <a:latin typeface="Segoe UI"/>
                  <a:ea typeface="+mn-lt"/>
                  <a:cs typeface="Segoe UI"/>
                </a:rPr>
                <a:t>Implementation</a:t>
              </a:r>
              <a:endParaRPr lang="fr-FR" dirty="0" err="1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C14DB9-98F1-7BC0-D81B-D7EE0D36D25C}"/>
              </a:ext>
            </a:extLst>
          </p:cNvPr>
          <p:cNvGrpSpPr/>
          <p:nvPr/>
        </p:nvGrpSpPr>
        <p:grpSpPr>
          <a:xfrm>
            <a:off x="3862630" y="4301076"/>
            <a:ext cx="7554259" cy="695325"/>
            <a:chOff x="4854593" y="4036874"/>
            <a:chExt cx="7554259" cy="69532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F95B0BB-4AA3-B52B-76AB-38052F04A071}"/>
                </a:ext>
              </a:extLst>
            </p:cNvPr>
            <p:cNvSpPr/>
            <p:nvPr/>
          </p:nvSpPr>
          <p:spPr>
            <a:xfrm>
              <a:off x="4854593" y="4036874"/>
              <a:ext cx="681591" cy="695325"/>
            </a:xfrm>
            <a:prstGeom prst="ellipse">
              <a:avLst/>
            </a:prstGeom>
            <a:solidFill>
              <a:srgbClr val="F0F5F3"/>
            </a:solidFill>
            <a:ln w="34925">
              <a:solidFill>
                <a:srgbClr val="7C9ED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8CA77AD-21F2-38A8-DABF-51F4089E1E56}"/>
                </a:ext>
              </a:extLst>
            </p:cNvPr>
            <p:cNvSpPr txBox="1"/>
            <p:nvPr/>
          </p:nvSpPr>
          <p:spPr>
            <a:xfrm>
              <a:off x="5721251" y="4106860"/>
              <a:ext cx="6687601" cy="5847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fr-FR" sz="3200" dirty="0" err="1">
                  <a:latin typeface="Segoe UI"/>
                  <a:ea typeface="+mn-lt"/>
                  <a:cs typeface="Segoe UI"/>
                </a:rPr>
                <a:t>Lamport</a:t>
              </a:r>
              <a:r>
                <a:rPr lang="fr-FR" sz="3200" dirty="0">
                  <a:latin typeface="Segoe UI"/>
                  <a:ea typeface="+mn-lt"/>
                  <a:cs typeface="Segoe UI"/>
                </a:rPr>
                <a:t> </a:t>
              </a:r>
              <a:r>
                <a:rPr lang="fr-FR" sz="3200" dirty="0" err="1">
                  <a:latin typeface="Segoe UI"/>
                  <a:ea typeface="+mn-lt"/>
                  <a:cs typeface="Segoe UI"/>
                </a:rPr>
                <a:t>Clock</a:t>
              </a:r>
              <a:r>
                <a:rPr lang="fr-FR" sz="3200" dirty="0">
                  <a:latin typeface="Segoe UI"/>
                  <a:ea typeface="+mn-lt"/>
                  <a:cs typeface="Segoe UI"/>
                </a:rPr>
                <a:t> </a:t>
              </a:r>
              <a:r>
                <a:rPr lang="fr-FR" sz="3200" dirty="0" err="1">
                  <a:latin typeface="Segoe UI"/>
                  <a:ea typeface="+mn-lt"/>
                  <a:cs typeface="Segoe UI"/>
                </a:rPr>
                <a:t>Integration</a:t>
              </a:r>
              <a:endParaRPr lang="fr-FR" dirty="0" err="1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F708F74-FBC5-82F6-69FE-C490F56AA27E}"/>
              </a:ext>
            </a:extLst>
          </p:cNvPr>
          <p:cNvGrpSpPr/>
          <p:nvPr/>
        </p:nvGrpSpPr>
        <p:grpSpPr>
          <a:xfrm>
            <a:off x="3422960" y="5451645"/>
            <a:ext cx="7497369" cy="695325"/>
            <a:chOff x="4293670" y="590549"/>
            <a:chExt cx="7497369" cy="69532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03F43D4-2E0F-F91E-9FA8-8817AD8B1F72}"/>
                </a:ext>
              </a:extLst>
            </p:cNvPr>
            <p:cNvSpPr/>
            <p:nvPr/>
          </p:nvSpPr>
          <p:spPr>
            <a:xfrm>
              <a:off x="4293670" y="590549"/>
              <a:ext cx="681591" cy="695325"/>
            </a:xfrm>
            <a:prstGeom prst="ellipse">
              <a:avLst/>
            </a:prstGeom>
            <a:solidFill>
              <a:srgbClr val="F0F5F3"/>
            </a:solidFill>
            <a:ln w="34925">
              <a:solidFill>
                <a:srgbClr val="7C9ED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F24E3E9-8627-8AC2-CAA4-E165FE1753B9}"/>
                </a:ext>
              </a:extLst>
            </p:cNvPr>
            <p:cNvSpPr txBox="1"/>
            <p:nvPr/>
          </p:nvSpPr>
          <p:spPr>
            <a:xfrm>
              <a:off x="5103438" y="638268"/>
              <a:ext cx="6687601" cy="5847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fr-FR" sz="3200" dirty="0" err="1">
                  <a:ea typeface="+mn-lt"/>
                  <a:cs typeface="+mn-lt"/>
                </a:rPr>
                <a:t>Results</a:t>
              </a:r>
              <a:r>
                <a:rPr lang="fr-FR" sz="3200" dirty="0">
                  <a:ea typeface="+mn-lt"/>
                  <a:cs typeface="+mn-lt"/>
                </a:rPr>
                <a:t> &amp; </a:t>
              </a:r>
              <a:r>
                <a:rPr lang="fr-FR" sz="3200" noProof="0" dirty="0">
                  <a:ea typeface="+mn-lt"/>
                  <a:cs typeface="+mn-lt"/>
                </a:rPr>
                <a:t>Conclusion</a:t>
              </a:r>
              <a:endParaRPr lang="fr-FR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1A3A991-7DD9-6D9D-FD3A-CD33EE3DA0CC}"/>
              </a:ext>
            </a:extLst>
          </p:cNvPr>
          <p:cNvSpPr txBox="1"/>
          <p:nvPr/>
        </p:nvSpPr>
        <p:spPr>
          <a:xfrm>
            <a:off x="11838038" y="6457890"/>
            <a:ext cx="353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18178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2870694D-7443-1572-F78B-E4B2DA2E392D}"/>
              </a:ext>
            </a:extLst>
          </p:cNvPr>
          <p:cNvGrpSpPr/>
          <p:nvPr/>
        </p:nvGrpSpPr>
        <p:grpSpPr>
          <a:xfrm>
            <a:off x="3354398" y="2751213"/>
            <a:ext cx="5408602" cy="1013871"/>
            <a:chOff x="3354398" y="2751213"/>
            <a:chExt cx="5408602" cy="101387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B772ADB-1FA0-234E-2343-297B7AD0E351}"/>
                </a:ext>
              </a:extLst>
            </p:cNvPr>
            <p:cNvSpPr/>
            <p:nvPr/>
          </p:nvSpPr>
          <p:spPr>
            <a:xfrm>
              <a:off x="3354398" y="2751213"/>
              <a:ext cx="997692" cy="1013871"/>
            </a:xfrm>
            <a:prstGeom prst="ellipse">
              <a:avLst/>
            </a:prstGeom>
            <a:solidFill>
              <a:srgbClr val="F0F5F3"/>
            </a:solidFill>
            <a:ln w="34925">
              <a:solidFill>
                <a:srgbClr val="7C9ED7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4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  <a:endParaRPr lang="fr-FR" sz="8800" b="1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50CBD97-A72D-9DC4-7EEA-9EB99EEC9F65}"/>
                </a:ext>
              </a:extLst>
            </p:cNvPr>
            <p:cNvSpPr txBox="1"/>
            <p:nvPr/>
          </p:nvSpPr>
          <p:spPr>
            <a:xfrm>
              <a:off x="4550367" y="2873429"/>
              <a:ext cx="421263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4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F2DC3EAF-A5A0-F969-D989-FFC5D843E33A}"/>
              </a:ext>
            </a:extLst>
          </p:cNvPr>
          <p:cNvSpPr/>
          <p:nvPr/>
        </p:nvSpPr>
        <p:spPr>
          <a:xfrm>
            <a:off x="-1838192" y="244529"/>
            <a:ext cx="2657476" cy="2628900"/>
          </a:xfrm>
          <a:prstGeom prst="ellipse">
            <a:avLst/>
          </a:prstGeom>
          <a:solidFill>
            <a:srgbClr val="1279C5"/>
          </a:solidFill>
          <a:ln>
            <a:noFill/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FDA86B-8D89-382C-F595-DFA1292EC758}"/>
              </a:ext>
            </a:extLst>
          </p:cNvPr>
          <p:cNvSpPr txBox="1"/>
          <p:nvPr/>
        </p:nvSpPr>
        <p:spPr>
          <a:xfrm>
            <a:off x="11838038" y="6457890"/>
            <a:ext cx="353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94825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63ED6DF2-DDE9-BB7A-1D5C-78E439F98474}"/>
              </a:ext>
            </a:extLst>
          </p:cNvPr>
          <p:cNvSpPr/>
          <p:nvPr/>
        </p:nvSpPr>
        <p:spPr>
          <a:xfrm>
            <a:off x="850334" y="1432754"/>
            <a:ext cx="10227302" cy="4644180"/>
          </a:xfrm>
          <a:prstGeom prst="roundRect">
            <a:avLst>
              <a:gd name="adj" fmla="val 6886"/>
            </a:avLst>
          </a:prstGeom>
          <a:solidFill>
            <a:srgbClr val="F0F5F3"/>
          </a:solidFill>
          <a:ln>
            <a:noFill/>
          </a:ln>
          <a:effectLst>
            <a:outerShdw blurRad="711200" sx="105000" sy="105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9BDEE93-229D-A417-3D92-6B97585752B1}"/>
              </a:ext>
            </a:extLst>
          </p:cNvPr>
          <p:cNvSpPr/>
          <p:nvPr/>
        </p:nvSpPr>
        <p:spPr>
          <a:xfrm>
            <a:off x="490804" y="5346720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Circle: Hollow 14">
            <a:extLst>
              <a:ext uri="{FF2B5EF4-FFF2-40B4-BE49-F238E27FC236}">
                <a16:creationId xmlns:a16="http://schemas.microsoft.com/office/drawing/2014/main" id="{4C5AAE9B-F472-517F-0BEC-7A2BD29A05D6}"/>
              </a:ext>
            </a:extLst>
          </p:cNvPr>
          <p:cNvSpPr/>
          <p:nvPr/>
        </p:nvSpPr>
        <p:spPr>
          <a:xfrm>
            <a:off x="2109727" y="102008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C6131C-E5F2-C89E-96F9-5193B2509ED3}"/>
              </a:ext>
            </a:extLst>
          </p:cNvPr>
          <p:cNvSpPr txBox="1"/>
          <p:nvPr/>
        </p:nvSpPr>
        <p:spPr>
          <a:xfrm>
            <a:off x="2439833" y="33293"/>
            <a:ext cx="1660543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Sys. </a:t>
            </a:r>
            <a:r>
              <a:rPr lang="fr-FR" sz="1400" dirty="0" err="1">
                <a:solidFill>
                  <a:schemeClr val="bg2">
                    <a:lumMod val="75000"/>
                  </a:schemeClr>
                </a:solidFill>
              </a:rPr>
              <a:t>Overview</a:t>
            </a:r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 &amp; architecture</a:t>
            </a:r>
            <a:endParaRPr lang="fr-FR" sz="14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0" name="Circle: Hollow 19">
            <a:extLst>
              <a:ext uri="{FF2B5EF4-FFF2-40B4-BE49-F238E27FC236}">
                <a16:creationId xmlns:a16="http://schemas.microsoft.com/office/drawing/2014/main" id="{CF7AFE52-C65B-5AD6-9750-E58503E5A0A4}"/>
              </a:ext>
            </a:extLst>
          </p:cNvPr>
          <p:cNvSpPr/>
          <p:nvPr/>
        </p:nvSpPr>
        <p:spPr>
          <a:xfrm>
            <a:off x="4111974" y="117553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BE04DF-E86B-D968-C5F9-BAB5822D78EA}"/>
              </a:ext>
            </a:extLst>
          </p:cNvPr>
          <p:cNvSpPr txBox="1"/>
          <p:nvPr/>
        </p:nvSpPr>
        <p:spPr>
          <a:xfrm>
            <a:off x="4432640" y="27393"/>
            <a:ext cx="16745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Communication &amp; implementation</a:t>
            </a:r>
            <a:endParaRPr lang="fr-FR" dirty="0"/>
          </a:p>
        </p:txBody>
      </p:sp>
      <p:sp>
        <p:nvSpPr>
          <p:cNvPr id="23" name="Circle: Hollow 22">
            <a:extLst>
              <a:ext uri="{FF2B5EF4-FFF2-40B4-BE49-F238E27FC236}">
                <a16:creationId xmlns:a16="http://schemas.microsoft.com/office/drawing/2014/main" id="{C1F5DB7B-4B3E-515A-B1B9-BA8BD0D85D61}"/>
              </a:ext>
            </a:extLst>
          </p:cNvPr>
          <p:cNvSpPr/>
          <p:nvPr/>
        </p:nvSpPr>
        <p:spPr>
          <a:xfrm>
            <a:off x="6466507" y="117553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5A7D92-D1C0-63B9-D5AA-D546ABA15112}"/>
              </a:ext>
            </a:extLst>
          </p:cNvPr>
          <p:cNvSpPr txBox="1"/>
          <p:nvPr/>
        </p:nvSpPr>
        <p:spPr>
          <a:xfrm>
            <a:off x="6809407" y="126176"/>
            <a:ext cx="1442826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Lamport clock</a:t>
            </a:r>
            <a:endParaRPr lang="fr-FR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F552866-B463-8500-DB60-B6DDF86D5B86}"/>
              </a:ext>
            </a:extLst>
          </p:cNvPr>
          <p:cNvSpPr/>
          <p:nvPr/>
        </p:nvSpPr>
        <p:spPr>
          <a:xfrm>
            <a:off x="395683" y="108615"/>
            <a:ext cx="342900" cy="342901"/>
          </a:xfrm>
          <a:prstGeom prst="ellipse">
            <a:avLst/>
          </a:prstGeom>
          <a:solidFill>
            <a:srgbClr val="1279C5"/>
          </a:solidFill>
          <a:ln>
            <a:solidFill>
              <a:srgbClr val="7C9ED7"/>
            </a:solidFill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A33E21E2-900E-D69B-BD84-6B77DCE4361F}"/>
              </a:ext>
            </a:extLst>
          </p:cNvPr>
          <p:cNvSpPr/>
          <p:nvPr/>
        </p:nvSpPr>
        <p:spPr>
          <a:xfrm>
            <a:off x="8661019" y="111830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1CB2B5-16B7-E7D2-F074-E7A7FD3A1C56}"/>
              </a:ext>
            </a:extLst>
          </p:cNvPr>
          <p:cNvSpPr txBox="1"/>
          <p:nvPr/>
        </p:nvSpPr>
        <p:spPr>
          <a:xfrm>
            <a:off x="9003919" y="116531"/>
            <a:ext cx="189616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 err="1">
                <a:solidFill>
                  <a:schemeClr val="bg2">
                    <a:lumMod val="75000"/>
                  </a:schemeClr>
                </a:solidFill>
              </a:rPr>
              <a:t>Results</a:t>
            </a:r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 &amp; Conclusion</a:t>
            </a:r>
            <a:endParaRPr lang="fr-FR" sz="14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DC6FD9E-4EAB-8AB7-B6AE-1DAF5160BCA6}"/>
              </a:ext>
            </a:extLst>
          </p:cNvPr>
          <p:cNvGrpSpPr/>
          <p:nvPr/>
        </p:nvGrpSpPr>
        <p:grpSpPr>
          <a:xfrm>
            <a:off x="395683" y="108614"/>
            <a:ext cx="1563491" cy="342902"/>
            <a:chOff x="2401581" y="269029"/>
            <a:chExt cx="1563491" cy="342902"/>
          </a:xfrm>
        </p:grpSpPr>
        <p:sp>
          <p:nvSpPr>
            <p:cNvPr id="72" name="Circle: Hollow 71">
              <a:extLst>
                <a:ext uri="{FF2B5EF4-FFF2-40B4-BE49-F238E27FC236}">
                  <a16:creationId xmlns:a16="http://schemas.microsoft.com/office/drawing/2014/main" id="{A8FD28FA-8DB9-CF2A-C518-E2EFA87FD120}"/>
                </a:ext>
              </a:extLst>
            </p:cNvPr>
            <p:cNvSpPr/>
            <p:nvPr/>
          </p:nvSpPr>
          <p:spPr>
            <a:xfrm>
              <a:off x="2401581" y="269031"/>
              <a:ext cx="342900" cy="342900"/>
            </a:xfrm>
            <a:prstGeom prst="donut">
              <a:avLst>
                <a:gd name="adj" fmla="val 7542"/>
              </a:avLst>
            </a:prstGeom>
            <a:solidFill>
              <a:srgbClr val="7C9E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582F049-77BF-65D6-48A1-43A8B044519F}"/>
                </a:ext>
              </a:extLst>
            </p:cNvPr>
            <p:cNvSpPr txBox="1"/>
            <p:nvPr/>
          </p:nvSpPr>
          <p:spPr>
            <a:xfrm>
              <a:off x="2738579" y="269029"/>
              <a:ext cx="12264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rgbClr val="1279C5"/>
                  </a:solidFill>
                </a:rPr>
                <a:t>introduction</a:t>
              </a:r>
              <a:endParaRPr lang="fr-FR" sz="1400" b="1" noProof="0" dirty="0">
                <a:solidFill>
                  <a:srgbClr val="1279C5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07BF397-4B12-364B-DF2C-9B51968E70E7}"/>
              </a:ext>
            </a:extLst>
          </p:cNvPr>
          <p:cNvSpPr txBox="1"/>
          <p:nvPr/>
        </p:nvSpPr>
        <p:spPr>
          <a:xfrm>
            <a:off x="11838038" y="6457890"/>
            <a:ext cx="353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21A137-D272-A007-5189-D8EDB42B8EFE}"/>
              </a:ext>
            </a:extLst>
          </p:cNvPr>
          <p:cNvSpPr txBox="1"/>
          <p:nvPr/>
        </p:nvSpPr>
        <p:spPr>
          <a:xfrm>
            <a:off x="3936791" y="1813943"/>
            <a:ext cx="374073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800" b="1" dirty="0"/>
              <a:t>Distributed </a:t>
            </a:r>
            <a:r>
              <a:rPr lang="fr-FR" sz="2800" b="1" err="1"/>
              <a:t>systems</a:t>
            </a:r>
            <a:r>
              <a:rPr lang="fr-FR" sz="2800" b="1" dirty="0"/>
              <a:t> </a:t>
            </a:r>
            <a:endParaRPr lang="fr-FR" sz="2800"/>
          </a:p>
        </p:txBody>
      </p:sp>
      <p:pic>
        <p:nvPicPr>
          <p:cNvPr id="5" name="Image 4" descr="Une image contenant capture d’écran, Caractère coloré, pixel, conception&#10;&#10;Le contenu généré par l’IA peut être incorrect.">
            <a:extLst>
              <a:ext uri="{FF2B5EF4-FFF2-40B4-BE49-F238E27FC236}">
                <a16:creationId xmlns:a16="http://schemas.microsoft.com/office/drawing/2014/main" id="{ABF3E2BF-DB91-B26E-B9AF-C846E0411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490" y="2577230"/>
            <a:ext cx="2194143" cy="2173268"/>
          </a:xfrm>
          <a:prstGeom prst="rect">
            <a:avLst/>
          </a:prstGeom>
        </p:spPr>
      </p:pic>
      <p:grpSp>
        <p:nvGrpSpPr>
          <p:cNvPr id="9" name="Group 72">
            <a:extLst>
              <a:ext uri="{FF2B5EF4-FFF2-40B4-BE49-F238E27FC236}">
                <a16:creationId xmlns:a16="http://schemas.microsoft.com/office/drawing/2014/main" id="{17ECACD7-AEA6-0288-D6F4-936CFA7153DA}"/>
              </a:ext>
            </a:extLst>
          </p:cNvPr>
          <p:cNvGrpSpPr/>
          <p:nvPr/>
        </p:nvGrpSpPr>
        <p:grpSpPr>
          <a:xfrm>
            <a:off x="4289317" y="2577934"/>
            <a:ext cx="6259910" cy="461665"/>
            <a:chOff x="4348459" y="2311708"/>
            <a:chExt cx="6027364" cy="461665"/>
          </a:xfrm>
        </p:grpSpPr>
        <p:sp>
          <p:nvSpPr>
            <p:cNvPr id="7" name="Oval 55">
              <a:extLst>
                <a:ext uri="{FF2B5EF4-FFF2-40B4-BE49-F238E27FC236}">
                  <a16:creationId xmlns:a16="http://schemas.microsoft.com/office/drawing/2014/main" id="{A4C439D4-130A-8ACE-6B62-F44BC91C93FB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TextBox 60">
              <a:extLst>
                <a:ext uri="{FF2B5EF4-FFF2-40B4-BE49-F238E27FC236}">
                  <a16:creationId xmlns:a16="http://schemas.microsoft.com/office/drawing/2014/main" id="{58D49CE3-7DB8-B7D1-0347-C01B26AAD730}"/>
                </a:ext>
              </a:extLst>
            </p:cNvPr>
            <p:cNvSpPr txBox="1"/>
            <p:nvPr/>
          </p:nvSpPr>
          <p:spPr>
            <a:xfrm>
              <a:off x="4757285" y="2311708"/>
              <a:ext cx="561853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/>
                <a:t>multiple </a:t>
              </a:r>
              <a:r>
                <a:rPr lang="fr-FR" sz="2400" dirty="0" err="1"/>
                <a:t>independent</a:t>
              </a:r>
              <a:r>
                <a:rPr lang="fr-FR" sz="2400" dirty="0"/>
                <a:t> </a:t>
              </a:r>
              <a:r>
                <a:rPr lang="fr-FR" sz="2400" dirty="0" err="1"/>
                <a:t>processes</a:t>
              </a:r>
            </a:p>
          </p:txBody>
        </p:sp>
      </p:grpSp>
      <p:grpSp>
        <p:nvGrpSpPr>
          <p:cNvPr id="16" name="Group 72">
            <a:extLst>
              <a:ext uri="{FF2B5EF4-FFF2-40B4-BE49-F238E27FC236}">
                <a16:creationId xmlns:a16="http://schemas.microsoft.com/office/drawing/2014/main" id="{493C2CDE-DDB9-2A3A-A2E7-C2614338DAC7}"/>
              </a:ext>
            </a:extLst>
          </p:cNvPr>
          <p:cNvGrpSpPr/>
          <p:nvPr/>
        </p:nvGrpSpPr>
        <p:grpSpPr>
          <a:xfrm>
            <a:off x="4285149" y="3544525"/>
            <a:ext cx="6239043" cy="461665"/>
            <a:chOff x="4348459" y="2363899"/>
            <a:chExt cx="6007263" cy="461665"/>
          </a:xfrm>
        </p:grpSpPr>
        <p:sp>
          <p:nvSpPr>
            <p:cNvPr id="12" name="Oval 55">
              <a:extLst>
                <a:ext uri="{FF2B5EF4-FFF2-40B4-BE49-F238E27FC236}">
                  <a16:creationId xmlns:a16="http://schemas.microsoft.com/office/drawing/2014/main" id="{D34B758C-EA94-AC18-19FA-6A645944A756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TextBox 60">
              <a:extLst>
                <a:ext uri="{FF2B5EF4-FFF2-40B4-BE49-F238E27FC236}">
                  <a16:creationId xmlns:a16="http://schemas.microsoft.com/office/drawing/2014/main" id="{915A0973-068F-7704-496F-F921A66DCBD2}"/>
                </a:ext>
              </a:extLst>
            </p:cNvPr>
            <p:cNvSpPr txBox="1"/>
            <p:nvPr/>
          </p:nvSpPr>
          <p:spPr>
            <a:xfrm>
              <a:off x="4757285" y="2363899"/>
              <a:ext cx="5598437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>
                  <a:ea typeface="+mn-lt"/>
                  <a:cs typeface="+mn-lt"/>
                </a:rPr>
                <a:t>No </a:t>
              </a:r>
              <a:r>
                <a:rPr lang="fr-FR" sz="2400" err="1">
                  <a:ea typeface="+mn-lt"/>
                  <a:cs typeface="+mn-lt"/>
                </a:rPr>
                <a:t>shared</a:t>
              </a:r>
              <a:r>
                <a:rPr lang="fr-FR" sz="2400" dirty="0">
                  <a:ea typeface="+mn-lt"/>
                  <a:cs typeface="+mn-lt"/>
                </a:rPr>
                <a:t> global </a:t>
              </a:r>
              <a:r>
                <a:rPr lang="fr-FR" sz="2400" err="1">
                  <a:ea typeface="+mn-lt"/>
                  <a:cs typeface="+mn-lt"/>
                </a:rPr>
                <a:t>clock</a:t>
              </a:r>
              <a:r>
                <a:rPr lang="fr-FR" sz="2400" dirty="0">
                  <a:ea typeface="+mn-lt"/>
                  <a:cs typeface="+mn-lt"/>
                </a:rPr>
                <a:t> </a:t>
              </a:r>
              <a:r>
                <a:rPr lang="fr-FR" sz="2400" err="1">
                  <a:ea typeface="+mn-lt"/>
                  <a:cs typeface="+mn-lt"/>
                </a:rPr>
                <a:t>between</a:t>
              </a:r>
              <a:r>
                <a:rPr lang="fr-FR" sz="2400" dirty="0">
                  <a:ea typeface="+mn-lt"/>
                  <a:cs typeface="+mn-lt"/>
                </a:rPr>
                <a:t> </a:t>
              </a:r>
              <a:r>
                <a:rPr lang="fr-FR" sz="2400" err="1">
                  <a:ea typeface="+mn-lt"/>
                  <a:cs typeface="+mn-lt"/>
                </a:rPr>
                <a:t>processes</a:t>
              </a:r>
              <a:endParaRPr lang="fr-FR" sz="2400" dirty="0" err="1">
                <a:ea typeface="+mn-lt"/>
                <a:cs typeface="+mn-lt"/>
              </a:endParaRPr>
            </a:p>
          </p:txBody>
        </p:sp>
      </p:grpSp>
      <p:grpSp>
        <p:nvGrpSpPr>
          <p:cNvPr id="27" name="Group 72">
            <a:extLst>
              <a:ext uri="{FF2B5EF4-FFF2-40B4-BE49-F238E27FC236}">
                <a16:creationId xmlns:a16="http://schemas.microsoft.com/office/drawing/2014/main" id="{983F2EE4-C77C-D597-1B79-1D347C28AF10}"/>
              </a:ext>
            </a:extLst>
          </p:cNvPr>
          <p:cNvGrpSpPr/>
          <p:nvPr/>
        </p:nvGrpSpPr>
        <p:grpSpPr>
          <a:xfrm>
            <a:off x="4285149" y="4525731"/>
            <a:ext cx="6719208" cy="830997"/>
            <a:chOff x="4348459" y="2311708"/>
            <a:chExt cx="6469589" cy="830997"/>
          </a:xfrm>
        </p:grpSpPr>
        <p:sp>
          <p:nvSpPr>
            <p:cNvPr id="22" name="Oval 55">
              <a:extLst>
                <a:ext uri="{FF2B5EF4-FFF2-40B4-BE49-F238E27FC236}">
                  <a16:creationId xmlns:a16="http://schemas.microsoft.com/office/drawing/2014/main" id="{C0FDC8DE-DB71-195F-742B-6FE91430E055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TextBox 60">
              <a:extLst>
                <a:ext uri="{FF2B5EF4-FFF2-40B4-BE49-F238E27FC236}">
                  <a16:creationId xmlns:a16="http://schemas.microsoft.com/office/drawing/2014/main" id="{604499BF-006B-94D0-4DB2-99B0025139A1}"/>
                </a:ext>
              </a:extLst>
            </p:cNvPr>
            <p:cNvSpPr txBox="1"/>
            <p:nvPr/>
          </p:nvSpPr>
          <p:spPr>
            <a:xfrm>
              <a:off x="4787437" y="2311708"/>
              <a:ext cx="6030611" cy="830997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>
                  <a:ea typeface="+mn-lt"/>
                  <a:cs typeface="+mn-lt"/>
                </a:rPr>
                <a:t>Event </a:t>
              </a:r>
              <a:r>
                <a:rPr lang="fr-FR" sz="2400" dirty="0" err="1">
                  <a:ea typeface="+mn-lt"/>
                  <a:cs typeface="+mn-lt"/>
                </a:rPr>
                <a:t>ordering</a:t>
              </a:r>
              <a:r>
                <a:rPr lang="fr-FR" sz="2400" dirty="0">
                  <a:ea typeface="+mn-lt"/>
                  <a:cs typeface="+mn-lt"/>
                </a:rPr>
                <a:t> </a:t>
              </a:r>
              <a:r>
                <a:rPr lang="fr-FR" sz="2400" dirty="0" err="1">
                  <a:ea typeface="+mn-lt"/>
                  <a:cs typeface="+mn-lt"/>
                </a:rPr>
                <a:t>becomes</a:t>
              </a:r>
              <a:r>
                <a:rPr lang="fr-FR" sz="2400" dirty="0">
                  <a:ea typeface="+mn-lt"/>
                  <a:cs typeface="+mn-lt"/>
                </a:rPr>
                <a:t> a </a:t>
              </a:r>
              <a:r>
                <a:rPr lang="fr-FR" sz="2400" dirty="0" err="1">
                  <a:ea typeface="+mn-lt"/>
                  <a:cs typeface="+mn-lt"/>
                </a:rPr>
                <a:t>critical</a:t>
              </a:r>
              <a:r>
                <a:rPr lang="fr-FR" sz="2400" dirty="0">
                  <a:ea typeface="+mn-lt"/>
                  <a:cs typeface="+mn-lt"/>
                </a:rPr>
                <a:t> challenge</a:t>
              </a:r>
              <a:endParaRPr lang="fr-FR" dirty="0"/>
            </a:p>
            <a:p>
              <a:endParaRPr lang="fr-FR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86501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E5946-E904-B1E9-512D-FCA93F8EC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2191B02E-AF3A-1F9B-2550-56D81EB390F6}"/>
              </a:ext>
            </a:extLst>
          </p:cNvPr>
          <p:cNvSpPr/>
          <p:nvPr/>
        </p:nvSpPr>
        <p:spPr>
          <a:xfrm>
            <a:off x="850334" y="1432754"/>
            <a:ext cx="10227302" cy="4644180"/>
          </a:xfrm>
          <a:prstGeom prst="roundRect">
            <a:avLst>
              <a:gd name="adj" fmla="val 6886"/>
            </a:avLst>
          </a:prstGeom>
          <a:solidFill>
            <a:srgbClr val="F0F5F3"/>
          </a:solidFill>
          <a:ln>
            <a:noFill/>
          </a:ln>
          <a:effectLst>
            <a:outerShdw blurRad="711200" sx="105000" sy="105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5A97270-3671-E4CD-DA61-6337311F9141}"/>
              </a:ext>
            </a:extLst>
          </p:cNvPr>
          <p:cNvSpPr/>
          <p:nvPr/>
        </p:nvSpPr>
        <p:spPr>
          <a:xfrm>
            <a:off x="490804" y="5346720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ED8E75D-50DE-CD6B-7F02-990A4029AA76}"/>
              </a:ext>
            </a:extLst>
          </p:cNvPr>
          <p:cNvSpPr/>
          <p:nvPr/>
        </p:nvSpPr>
        <p:spPr>
          <a:xfrm>
            <a:off x="395683" y="108615"/>
            <a:ext cx="342900" cy="342901"/>
          </a:xfrm>
          <a:prstGeom prst="ellipse">
            <a:avLst/>
          </a:prstGeom>
          <a:solidFill>
            <a:srgbClr val="1279C5"/>
          </a:solidFill>
          <a:ln>
            <a:solidFill>
              <a:srgbClr val="7C9ED7"/>
            </a:solidFill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94E720B-B34E-5181-CE55-106FEE544A96}"/>
              </a:ext>
            </a:extLst>
          </p:cNvPr>
          <p:cNvGrpSpPr/>
          <p:nvPr/>
        </p:nvGrpSpPr>
        <p:grpSpPr>
          <a:xfrm>
            <a:off x="395683" y="108614"/>
            <a:ext cx="1563491" cy="342902"/>
            <a:chOff x="2401581" y="269029"/>
            <a:chExt cx="1563491" cy="342902"/>
          </a:xfrm>
        </p:grpSpPr>
        <p:sp>
          <p:nvSpPr>
            <p:cNvPr id="72" name="Circle: Hollow 71">
              <a:extLst>
                <a:ext uri="{FF2B5EF4-FFF2-40B4-BE49-F238E27FC236}">
                  <a16:creationId xmlns:a16="http://schemas.microsoft.com/office/drawing/2014/main" id="{E49D4C3C-70AA-4502-7108-1047A6B1CBC8}"/>
                </a:ext>
              </a:extLst>
            </p:cNvPr>
            <p:cNvSpPr/>
            <p:nvPr/>
          </p:nvSpPr>
          <p:spPr>
            <a:xfrm>
              <a:off x="2401581" y="269031"/>
              <a:ext cx="342900" cy="342900"/>
            </a:xfrm>
            <a:prstGeom prst="donut">
              <a:avLst>
                <a:gd name="adj" fmla="val 7542"/>
              </a:avLst>
            </a:prstGeom>
            <a:solidFill>
              <a:srgbClr val="7C9E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9864649-426A-B3C5-CA24-90F9184DA98D}"/>
                </a:ext>
              </a:extLst>
            </p:cNvPr>
            <p:cNvSpPr txBox="1"/>
            <p:nvPr/>
          </p:nvSpPr>
          <p:spPr>
            <a:xfrm>
              <a:off x="2738579" y="269029"/>
              <a:ext cx="12264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rgbClr val="1279C5"/>
                  </a:solidFill>
                </a:rPr>
                <a:t>introduction</a:t>
              </a:r>
              <a:endParaRPr lang="fr-FR" sz="1400" b="1" noProof="0" dirty="0">
                <a:solidFill>
                  <a:srgbClr val="1279C5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FCA43BA-D138-E76E-E711-C6E2D3D49F66}"/>
              </a:ext>
            </a:extLst>
          </p:cNvPr>
          <p:cNvSpPr txBox="1"/>
          <p:nvPr/>
        </p:nvSpPr>
        <p:spPr>
          <a:xfrm>
            <a:off x="11838038" y="6457890"/>
            <a:ext cx="35396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5</a:t>
            </a:r>
            <a:endParaRPr lang="fr-FR" sz="2000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DA8ADA-07A5-CDA3-86A9-EFE8D390D9F4}"/>
              </a:ext>
            </a:extLst>
          </p:cNvPr>
          <p:cNvSpPr txBox="1"/>
          <p:nvPr/>
        </p:nvSpPr>
        <p:spPr>
          <a:xfrm>
            <a:off x="1462900" y="2106217"/>
            <a:ext cx="564051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800" b="1" dirty="0" err="1">
                <a:ea typeface="+mn-lt"/>
                <a:cs typeface="+mn-lt"/>
              </a:rPr>
              <a:t>Lamport</a:t>
            </a:r>
            <a:r>
              <a:rPr lang="fr-FR" sz="2800" b="1" dirty="0">
                <a:ea typeface="+mn-lt"/>
                <a:cs typeface="+mn-lt"/>
              </a:rPr>
              <a:t> </a:t>
            </a:r>
            <a:r>
              <a:rPr lang="fr-FR" sz="2800" b="1" dirty="0" err="1">
                <a:ea typeface="+mn-lt"/>
                <a:cs typeface="+mn-lt"/>
              </a:rPr>
              <a:t>logical</a:t>
            </a:r>
            <a:r>
              <a:rPr lang="fr-FR" sz="2800" b="1" dirty="0">
                <a:ea typeface="+mn-lt"/>
                <a:cs typeface="+mn-lt"/>
              </a:rPr>
              <a:t> </a:t>
            </a:r>
            <a:r>
              <a:rPr lang="fr-FR" sz="2800" b="1" dirty="0" err="1">
                <a:ea typeface="+mn-lt"/>
                <a:cs typeface="+mn-lt"/>
              </a:rPr>
              <a:t>clocks</a:t>
            </a:r>
            <a:r>
              <a:rPr lang="fr-FR" sz="2800" b="1" dirty="0">
                <a:ea typeface="+mn-lt"/>
                <a:cs typeface="+mn-lt"/>
              </a:rPr>
              <a:t> </a:t>
            </a:r>
            <a:r>
              <a:rPr lang="fr-FR" sz="2800" b="1" dirty="0" err="1">
                <a:ea typeface="+mn-lt"/>
                <a:cs typeface="+mn-lt"/>
              </a:rPr>
              <a:t>provide</a:t>
            </a:r>
            <a:endParaRPr lang="fr-FR" sz="2800" b="1" dirty="0" err="1"/>
          </a:p>
        </p:txBody>
      </p:sp>
      <p:grpSp>
        <p:nvGrpSpPr>
          <p:cNvPr id="9" name="Group 72">
            <a:extLst>
              <a:ext uri="{FF2B5EF4-FFF2-40B4-BE49-F238E27FC236}">
                <a16:creationId xmlns:a16="http://schemas.microsoft.com/office/drawing/2014/main" id="{5CB64E38-A200-7B11-8D1E-699BF13C68F0}"/>
              </a:ext>
            </a:extLst>
          </p:cNvPr>
          <p:cNvGrpSpPr/>
          <p:nvPr/>
        </p:nvGrpSpPr>
        <p:grpSpPr>
          <a:xfrm>
            <a:off x="1773673" y="3152043"/>
            <a:ext cx="6259910" cy="461665"/>
            <a:chOff x="4348459" y="2311708"/>
            <a:chExt cx="6027364" cy="461665"/>
          </a:xfrm>
        </p:grpSpPr>
        <p:sp>
          <p:nvSpPr>
            <p:cNvPr id="7" name="Oval 55">
              <a:extLst>
                <a:ext uri="{FF2B5EF4-FFF2-40B4-BE49-F238E27FC236}">
                  <a16:creationId xmlns:a16="http://schemas.microsoft.com/office/drawing/2014/main" id="{4366D4DB-3486-11B5-B321-027287B7850F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TextBox 60">
              <a:extLst>
                <a:ext uri="{FF2B5EF4-FFF2-40B4-BE49-F238E27FC236}">
                  <a16:creationId xmlns:a16="http://schemas.microsoft.com/office/drawing/2014/main" id="{05A31AE4-57F4-F369-AB86-6B2B0F881644}"/>
                </a:ext>
              </a:extLst>
            </p:cNvPr>
            <p:cNvSpPr txBox="1"/>
            <p:nvPr/>
          </p:nvSpPr>
          <p:spPr>
            <a:xfrm>
              <a:off x="4757285" y="2311708"/>
              <a:ext cx="561853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 err="1">
                  <a:ea typeface="+mn-lt"/>
                  <a:cs typeface="+mn-lt"/>
                </a:rPr>
                <a:t>Logical</a:t>
              </a:r>
              <a:r>
                <a:rPr lang="fr-FR" sz="2400" dirty="0">
                  <a:ea typeface="+mn-lt"/>
                  <a:cs typeface="+mn-lt"/>
                </a:rPr>
                <a:t> (not </a:t>
              </a:r>
              <a:r>
                <a:rPr lang="fr-FR" sz="2400" dirty="0" err="1">
                  <a:ea typeface="+mn-lt"/>
                  <a:cs typeface="+mn-lt"/>
                </a:rPr>
                <a:t>physical</a:t>
              </a:r>
              <a:r>
                <a:rPr lang="fr-FR" sz="2400" dirty="0">
                  <a:ea typeface="+mn-lt"/>
                  <a:cs typeface="+mn-lt"/>
                </a:rPr>
                <a:t>) time</a:t>
              </a:r>
              <a:endParaRPr lang="fr-FR" dirty="0"/>
            </a:p>
          </p:txBody>
        </p:sp>
      </p:grpSp>
      <p:grpSp>
        <p:nvGrpSpPr>
          <p:cNvPr id="16" name="Group 72">
            <a:extLst>
              <a:ext uri="{FF2B5EF4-FFF2-40B4-BE49-F238E27FC236}">
                <a16:creationId xmlns:a16="http://schemas.microsoft.com/office/drawing/2014/main" id="{08A18558-373F-A13B-3247-3360826C09A8}"/>
              </a:ext>
            </a:extLst>
          </p:cNvPr>
          <p:cNvGrpSpPr/>
          <p:nvPr/>
        </p:nvGrpSpPr>
        <p:grpSpPr>
          <a:xfrm>
            <a:off x="1769505" y="3899429"/>
            <a:ext cx="6239043" cy="461665"/>
            <a:chOff x="4348459" y="2363899"/>
            <a:chExt cx="6007263" cy="461665"/>
          </a:xfrm>
        </p:grpSpPr>
        <p:sp>
          <p:nvSpPr>
            <p:cNvPr id="12" name="Oval 55">
              <a:extLst>
                <a:ext uri="{FF2B5EF4-FFF2-40B4-BE49-F238E27FC236}">
                  <a16:creationId xmlns:a16="http://schemas.microsoft.com/office/drawing/2014/main" id="{68E92EF6-0503-C89D-9980-A9E3DD2CF58F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TextBox 60">
              <a:extLst>
                <a:ext uri="{FF2B5EF4-FFF2-40B4-BE49-F238E27FC236}">
                  <a16:creationId xmlns:a16="http://schemas.microsoft.com/office/drawing/2014/main" id="{8D3A12C3-FEDB-41C9-2BAC-A8D7057CB3AA}"/>
                </a:ext>
              </a:extLst>
            </p:cNvPr>
            <p:cNvSpPr txBox="1"/>
            <p:nvPr/>
          </p:nvSpPr>
          <p:spPr>
            <a:xfrm>
              <a:off x="4757285" y="2363899"/>
              <a:ext cx="5598437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>
                  <a:ea typeface="+mn-lt"/>
                  <a:cs typeface="+mn-lt"/>
                </a:rPr>
                <a:t>Causal </a:t>
              </a:r>
              <a:r>
                <a:rPr lang="fr-FR" sz="2400" dirty="0" err="1">
                  <a:ea typeface="+mn-lt"/>
                  <a:cs typeface="+mn-lt"/>
                </a:rPr>
                <a:t>ordering</a:t>
              </a:r>
              <a:r>
                <a:rPr lang="fr-FR" sz="2400" dirty="0">
                  <a:ea typeface="+mn-lt"/>
                  <a:cs typeface="+mn-lt"/>
                </a:rPr>
                <a:t> of </a:t>
              </a:r>
              <a:r>
                <a:rPr lang="fr-FR" sz="2400" dirty="0" err="1">
                  <a:ea typeface="+mn-lt"/>
                  <a:cs typeface="+mn-lt"/>
                </a:rPr>
                <a:t>events</a:t>
              </a:r>
              <a:endParaRPr lang="fr-FR" dirty="0" err="1"/>
            </a:p>
          </p:txBody>
        </p:sp>
      </p:grpSp>
      <p:pic>
        <p:nvPicPr>
          <p:cNvPr id="4" name="Image 3" descr="Une image contenant horloge, cercle, Horloge murale&#10;&#10;Le contenu généré par l’IA peut être incorrect.">
            <a:extLst>
              <a:ext uri="{FF2B5EF4-FFF2-40B4-BE49-F238E27FC236}">
                <a16:creationId xmlns:a16="http://schemas.microsoft.com/office/drawing/2014/main" id="{A8C4B1A9-8C48-A8C1-B6E6-36C96CEC1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955" y="2629421"/>
            <a:ext cx="1985376" cy="1964500"/>
          </a:xfrm>
          <a:prstGeom prst="rect">
            <a:avLst/>
          </a:prstGeom>
        </p:spPr>
      </p:pic>
      <p:sp>
        <p:nvSpPr>
          <p:cNvPr id="11" name="Circle: Hollow 14">
            <a:extLst>
              <a:ext uri="{FF2B5EF4-FFF2-40B4-BE49-F238E27FC236}">
                <a16:creationId xmlns:a16="http://schemas.microsoft.com/office/drawing/2014/main" id="{C38E2C49-85A9-9FDC-D24B-62DC34258D6E}"/>
              </a:ext>
            </a:extLst>
          </p:cNvPr>
          <p:cNvSpPr/>
          <p:nvPr/>
        </p:nvSpPr>
        <p:spPr>
          <a:xfrm>
            <a:off x="2109727" y="102008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ED9207F2-E63D-2AAE-A479-1657F98B7B0E}"/>
              </a:ext>
            </a:extLst>
          </p:cNvPr>
          <p:cNvSpPr txBox="1"/>
          <p:nvPr/>
        </p:nvSpPr>
        <p:spPr>
          <a:xfrm>
            <a:off x="2439833" y="33293"/>
            <a:ext cx="1660543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Sys. </a:t>
            </a:r>
            <a:r>
              <a:rPr lang="fr-FR" sz="1400" dirty="0" err="1">
                <a:solidFill>
                  <a:schemeClr val="bg2">
                    <a:lumMod val="75000"/>
                  </a:schemeClr>
                </a:solidFill>
              </a:rPr>
              <a:t>Overview</a:t>
            </a:r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 &amp; architecture</a:t>
            </a:r>
            <a:endParaRPr lang="fr-FR" sz="14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9" name="Circle: Hollow 19">
            <a:extLst>
              <a:ext uri="{FF2B5EF4-FFF2-40B4-BE49-F238E27FC236}">
                <a16:creationId xmlns:a16="http://schemas.microsoft.com/office/drawing/2014/main" id="{69198517-282F-C744-1B1B-979531E00C06}"/>
              </a:ext>
            </a:extLst>
          </p:cNvPr>
          <p:cNvSpPr/>
          <p:nvPr/>
        </p:nvSpPr>
        <p:spPr>
          <a:xfrm>
            <a:off x="4111974" y="117553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FCEA3B3C-9AA5-C9A0-870D-C479C6AB1583}"/>
              </a:ext>
            </a:extLst>
          </p:cNvPr>
          <p:cNvSpPr txBox="1"/>
          <p:nvPr/>
        </p:nvSpPr>
        <p:spPr>
          <a:xfrm>
            <a:off x="4432640" y="27393"/>
            <a:ext cx="16745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Communication &amp; implementation</a:t>
            </a:r>
            <a:endParaRPr lang="fr-FR" dirty="0"/>
          </a:p>
        </p:txBody>
      </p:sp>
      <p:sp>
        <p:nvSpPr>
          <p:cNvPr id="33" name="Circle: Hollow 22">
            <a:extLst>
              <a:ext uri="{FF2B5EF4-FFF2-40B4-BE49-F238E27FC236}">
                <a16:creationId xmlns:a16="http://schemas.microsoft.com/office/drawing/2014/main" id="{F1AEC206-8500-F127-5FFF-2BA31D54562B}"/>
              </a:ext>
            </a:extLst>
          </p:cNvPr>
          <p:cNvSpPr/>
          <p:nvPr/>
        </p:nvSpPr>
        <p:spPr>
          <a:xfrm>
            <a:off x="6466507" y="117553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35" name="TextBox 23">
            <a:extLst>
              <a:ext uri="{FF2B5EF4-FFF2-40B4-BE49-F238E27FC236}">
                <a16:creationId xmlns:a16="http://schemas.microsoft.com/office/drawing/2014/main" id="{DCA695B8-B389-38B1-6A03-54F870D6500B}"/>
              </a:ext>
            </a:extLst>
          </p:cNvPr>
          <p:cNvSpPr txBox="1"/>
          <p:nvPr/>
        </p:nvSpPr>
        <p:spPr>
          <a:xfrm>
            <a:off x="6809407" y="126176"/>
            <a:ext cx="1442826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Lamport clock</a:t>
            </a:r>
            <a:endParaRPr lang="fr-FR" dirty="0"/>
          </a:p>
        </p:txBody>
      </p:sp>
      <p:sp>
        <p:nvSpPr>
          <p:cNvPr id="38" name="Circle: Hollow 9">
            <a:extLst>
              <a:ext uri="{FF2B5EF4-FFF2-40B4-BE49-F238E27FC236}">
                <a16:creationId xmlns:a16="http://schemas.microsoft.com/office/drawing/2014/main" id="{5CDD1AF6-1DB9-E2F0-D3D2-B3985073E7AC}"/>
              </a:ext>
            </a:extLst>
          </p:cNvPr>
          <p:cNvSpPr/>
          <p:nvPr/>
        </p:nvSpPr>
        <p:spPr>
          <a:xfrm>
            <a:off x="8661019" y="111830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F03A6574-76B3-7C00-B88D-5DB571749199}"/>
              </a:ext>
            </a:extLst>
          </p:cNvPr>
          <p:cNvSpPr txBox="1"/>
          <p:nvPr/>
        </p:nvSpPr>
        <p:spPr>
          <a:xfrm>
            <a:off x="9003919" y="116531"/>
            <a:ext cx="189616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 err="1">
                <a:solidFill>
                  <a:schemeClr val="bg2">
                    <a:lumMod val="75000"/>
                  </a:schemeClr>
                </a:solidFill>
              </a:rPr>
              <a:t>Results</a:t>
            </a:r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 &amp; Conclusion</a:t>
            </a:r>
            <a:endParaRPr lang="fr-FR" sz="14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5297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D414BA-D1B7-B22D-DC32-6A4875299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E3484F55-4BFE-8568-606F-ECE6C669FD77}"/>
              </a:ext>
            </a:extLst>
          </p:cNvPr>
          <p:cNvSpPr/>
          <p:nvPr/>
        </p:nvSpPr>
        <p:spPr>
          <a:xfrm>
            <a:off x="850334" y="1432754"/>
            <a:ext cx="10227302" cy="4644180"/>
          </a:xfrm>
          <a:prstGeom prst="roundRect">
            <a:avLst>
              <a:gd name="adj" fmla="val 6886"/>
            </a:avLst>
          </a:prstGeom>
          <a:solidFill>
            <a:srgbClr val="F0F5F3"/>
          </a:solidFill>
          <a:ln>
            <a:noFill/>
          </a:ln>
          <a:effectLst>
            <a:outerShdw blurRad="711200" sx="105000" sy="105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7F19101-C41D-9C31-A617-2492569ED209}"/>
              </a:ext>
            </a:extLst>
          </p:cNvPr>
          <p:cNvSpPr/>
          <p:nvPr/>
        </p:nvSpPr>
        <p:spPr>
          <a:xfrm>
            <a:off x="490804" y="5346720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366F7FF-5C21-9E4B-61E4-E9879057CE3D}"/>
              </a:ext>
            </a:extLst>
          </p:cNvPr>
          <p:cNvSpPr/>
          <p:nvPr/>
        </p:nvSpPr>
        <p:spPr>
          <a:xfrm>
            <a:off x="395683" y="108615"/>
            <a:ext cx="342900" cy="342901"/>
          </a:xfrm>
          <a:prstGeom prst="ellipse">
            <a:avLst/>
          </a:prstGeom>
          <a:solidFill>
            <a:srgbClr val="1279C5"/>
          </a:solidFill>
          <a:ln>
            <a:solidFill>
              <a:srgbClr val="7C9ED7"/>
            </a:solidFill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0257EBE-14B1-0E92-677C-6E0434A6BD17}"/>
              </a:ext>
            </a:extLst>
          </p:cNvPr>
          <p:cNvGrpSpPr/>
          <p:nvPr/>
        </p:nvGrpSpPr>
        <p:grpSpPr>
          <a:xfrm>
            <a:off x="395683" y="108614"/>
            <a:ext cx="1563491" cy="342902"/>
            <a:chOff x="2401581" y="269029"/>
            <a:chExt cx="1563491" cy="342902"/>
          </a:xfrm>
        </p:grpSpPr>
        <p:sp>
          <p:nvSpPr>
            <p:cNvPr id="72" name="Circle: Hollow 71">
              <a:extLst>
                <a:ext uri="{FF2B5EF4-FFF2-40B4-BE49-F238E27FC236}">
                  <a16:creationId xmlns:a16="http://schemas.microsoft.com/office/drawing/2014/main" id="{77202CFD-63C0-B20E-C91E-CCB33877360E}"/>
                </a:ext>
              </a:extLst>
            </p:cNvPr>
            <p:cNvSpPr/>
            <p:nvPr/>
          </p:nvSpPr>
          <p:spPr>
            <a:xfrm>
              <a:off x="2401581" y="269031"/>
              <a:ext cx="342900" cy="342900"/>
            </a:xfrm>
            <a:prstGeom prst="donut">
              <a:avLst>
                <a:gd name="adj" fmla="val 7542"/>
              </a:avLst>
            </a:prstGeom>
            <a:solidFill>
              <a:srgbClr val="7C9E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8F54866-E48F-3836-764E-977461156274}"/>
                </a:ext>
              </a:extLst>
            </p:cNvPr>
            <p:cNvSpPr txBox="1"/>
            <p:nvPr/>
          </p:nvSpPr>
          <p:spPr>
            <a:xfrm>
              <a:off x="2738579" y="269029"/>
              <a:ext cx="12264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rgbClr val="1279C5"/>
                  </a:solidFill>
                </a:rPr>
                <a:t>introduction</a:t>
              </a:r>
              <a:endParaRPr lang="fr-FR" sz="1400" b="1" noProof="0" dirty="0">
                <a:solidFill>
                  <a:srgbClr val="1279C5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885C0E3-0CFB-0D63-BE7C-D5C93941FD9B}"/>
              </a:ext>
            </a:extLst>
          </p:cNvPr>
          <p:cNvSpPr txBox="1"/>
          <p:nvPr/>
        </p:nvSpPr>
        <p:spPr>
          <a:xfrm>
            <a:off x="11838038" y="6457890"/>
            <a:ext cx="35396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6</a:t>
            </a:r>
            <a:endParaRPr lang="fr-FR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42D1C9-4028-84C2-9455-47D00F7B9375}"/>
              </a:ext>
            </a:extLst>
          </p:cNvPr>
          <p:cNvSpPr txBox="1"/>
          <p:nvPr/>
        </p:nvSpPr>
        <p:spPr>
          <a:xfrm>
            <a:off x="1776051" y="2419368"/>
            <a:ext cx="564051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800" b="1" dirty="0">
                <a:ea typeface="+mn-lt"/>
                <a:cs typeface="+mn-lt"/>
              </a:rPr>
              <a:t>Project goals</a:t>
            </a:r>
            <a:endParaRPr lang="fr-FR" dirty="0"/>
          </a:p>
        </p:txBody>
      </p:sp>
      <p:grpSp>
        <p:nvGrpSpPr>
          <p:cNvPr id="9" name="Group 72">
            <a:extLst>
              <a:ext uri="{FF2B5EF4-FFF2-40B4-BE49-F238E27FC236}">
                <a16:creationId xmlns:a16="http://schemas.microsoft.com/office/drawing/2014/main" id="{FFAF4B1E-5316-19FC-B53F-A58F02FA3260}"/>
              </a:ext>
            </a:extLst>
          </p:cNvPr>
          <p:cNvGrpSpPr/>
          <p:nvPr/>
        </p:nvGrpSpPr>
        <p:grpSpPr>
          <a:xfrm>
            <a:off x="2212084" y="3204235"/>
            <a:ext cx="6259910" cy="461665"/>
            <a:chOff x="4348459" y="2311708"/>
            <a:chExt cx="6027364" cy="461665"/>
          </a:xfrm>
        </p:grpSpPr>
        <p:sp>
          <p:nvSpPr>
            <p:cNvPr id="7" name="Oval 55">
              <a:extLst>
                <a:ext uri="{FF2B5EF4-FFF2-40B4-BE49-F238E27FC236}">
                  <a16:creationId xmlns:a16="http://schemas.microsoft.com/office/drawing/2014/main" id="{834FD072-6D87-5E76-FB40-547C19FAF005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TextBox 60">
              <a:extLst>
                <a:ext uri="{FF2B5EF4-FFF2-40B4-BE49-F238E27FC236}">
                  <a16:creationId xmlns:a16="http://schemas.microsoft.com/office/drawing/2014/main" id="{07C2731A-1A12-28D2-5B15-F6A27C25CDE7}"/>
                </a:ext>
              </a:extLst>
            </p:cNvPr>
            <p:cNvSpPr txBox="1"/>
            <p:nvPr/>
          </p:nvSpPr>
          <p:spPr>
            <a:xfrm>
              <a:off x="4757285" y="2311708"/>
              <a:ext cx="561853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>
                  <a:ea typeface="+mn-lt"/>
                  <a:cs typeface="+mn-lt"/>
                </a:rPr>
                <a:t>multi-client chat system</a:t>
              </a:r>
              <a:endParaRPr lang="fr-FR" dirty="0"/>
            </a:p>
          </p:txBody>
        </p:sp>
      </p:grpSp>
      <p:grpSp>
        <p:nvGrpSpPr>
          <p:cNvPr id="16" name="Group 72">
            <a:extLst>
              <a:ext uri="{FF2B5EF4-FFF2-40B4-BE49-F238E27FC236}">
                <a16:creationId xmlns:a16="http://schemas.microsoft.com/office/drawing/2014/main" id="{E1CCE8D1-FF6D-92F3-9624-920E9A1175FE}"/>
              </a:ext>
            </a:extLst>
          </p:cNvPr>
          <p:cNvGrpSpPr/>
          <p:nvPr/>
        </p:nvGrpSpPr>
        <p:grpSpPr>
          <a:xfrm>
            <a:off x="2239231" y="3868114"/>
            <a:ext cx="6218166" cy="461665"/>
            <a:chOff x="4348459" y="2269954"/>
            <a:chExt cx="5987162" cy="461665"/>
          </a:xfrm>
        </p:grpSpPr>
        <p:sp>
          <p:nvSpPr>
            <p:cNvPr id="12" name="Oval 55">
              <a:extLst>
                <a:ext uri="{FF2B5EF4-FFF2-40B4-BE49-F238E27FC236}">
                  <a16:creationId xmlns:a16="http://schemas.microsoft.com/office/drawing/2014/main" id="{FEB42461-2AB9-CC36-4735-93090FA28D39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TextBox 60">
              <a:extLst>
                <a:ext uri="{FF2B5EF4-FFF2-40B4-BE49-F238E27FC236}">
                  <a16:creationId xmlns:a16="http://schemas.microsoft.com/office/drawing/2014/main" id="{5F01096B-D51E-3C41-48AF-F3A3EA84B09B}"/>
                </a:ext>
              </a:extLst>
            </p:cNvPr>
            <p:cNvSpPr txBox="1"/>
            <p:nvPr/>
          </p:nvSpPr>
          <p:spPr>
            <a:xfrm>
              <a:off x="4737184" y="2269954"/>
              <a:ext cx="5598437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 err="1">
                  <a:ea typeface="+mn-lt"/>
                  <a:cs typeface="+mn-lt"/>
                </a:rPr>
                <a:t>Integrate</a:t>
              </a:r>
              <a:r>
                <a:rPr lang="fr-FR" sz="2400" dirty="0">
                  <a:ea typeface="+mn-lt"/>
                  <a:cs typeface="+mn-lt"/>
                </a:rPr>
                <a:t> </a:t>
              </a:r>
              <a:r>
                <a:rPr lang="fr-FR" sz="2400" dirty="0" err="1">
                  <a:ea typeface="+mn-lt"/>
                  <a:cs typeface="+mn-lt"/>
                </a:rPr>
                <a:t>Lamport</a:t>
              </a:r>
              <a:r>
                <a:rPr lang="fr-FR" sz="2400" dirty="0">
                  <a:ea typeface="+mn-lt"/>
                  <a:cs typeface="+mn-lt"/>
                </a:rPr>
                <a:t> </a:t>
              </a:r>
              <a:r>
                <a:rPr lang="fr-FR" sz="2400" dirty="0" err="1">
                  <a:ea typeface="+mn-lt"/>
                  <a:cs typeface="+mn-lt"/>
                </a:rPr>
                <a:t>clocks</a:t>
              </a:r>
              <a:endParaRPr lang="fr-FR" dirty="0" err="1"/>
            </a:p>
          </p:txBody>
        </p:sp>
      </p:grpSp>
      <p:pic>
        <p:nvPicPr>
          <p:cNvPr id="5" name="Image 4" descr="Une image contenant cercle, Graphiqu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CC6A826E-005C-4986-6F43-C0E5D5EBF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695" y="2566791"/>
            <a:ext cx="2382033" cy="2382034"/>
          </a:xfrm>
          <a:prstGeom prst="rect">
            <a:avLst/>
          </a:prstGeom>
        </p:spPr>
      </p:pic>
      <p:sp>
        <p:nvSpPr>
          <p:cNvPr id="39" name="Circle: Hollow 14">
            <a:extLst>
              <a:ext uri="{FF2B5EF4-FFF2-40B4-BE49-F238E27FC236}">
                <a16:creationId xmlns:a16="http://schemas.microsoft.com/office/drawing/2014/main" id="{DB6E3AF9-0B49-1CD6-C6CA-60A07E6704C7}"/>
              </a:ext>
            </a:extLst>
          </p:cNvPr>
          <p:cNvSpPr/>
          <p:nvPr/>
        </p:nvSpPr>
        <p:spPr>
          <a:xfrm>
            <a:off x="2109727" y="92362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FC71595D-56CE-E3F6-2D76-AD9F98D7D091}"/>
              </a:ext>
            </a:extLst>
          </p:cNvPr>
          <p:cNvSpPr txBox="1"/>
          <p:nvPr/>
        </p:nvSpPr>
        <p:spPr>
          <a:xfrm>
            <a:off x="2439833" y="23647"/>
            <a:ext cx="1660543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Sys. </a:t>
            </a:r>
            <a:r>
              <a:rPr lang="fr-FR" sz="1400" dirty="0" err="1">
                <a:solidFill>
                  <a:schemeClr val="bg2">
                    <a:lumMod val="75000"/>
                  </a:schemeClr>
                </a:solidFill>
              </a:rPr>
              <a:t>Overview</a:t>
            </a:r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 &amp; architecture</a:t>
            </a:r>
            <a:endParaRPr lang="fr-FR" sz="14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" name="Circle: Hollow 19">
            <a:extLst>
              <a:ext uri="{FF2B5EF4-FFF2-40B4-BE49-F238E27FC236}">
                <a16:creationId xmlns:a16="http://schemas.microsoft.com/office/drawing/2014/main" id="{B9F2A237-0DD3-F75E-B540-997A3A1B6C30}"/>
              </a:ext>
            </a:extLst>
          </p:cNvPr>
          <p:cNvSpPr/>
          <p:nvPr/>
        </p:nvSpPr>
        <p:spPr>
          <a:xfrm>
            <a:off x="4111974" y="107907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7ECB9DB2-2968-132F-2606-1D0275A2929D}"/>
              </a:ext>
            </a:extLst>
          </p:cNvPr>
          <p:cNvSpPr txBox="1"/>
          <p:nvPr/>
        </p:nvSpPr>
        <p:spPr>
          <a:xfrm>
            <a:off x="4432640" y="17747"/>
            <a:ext cx="16745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Communication &amp; implementation</a:t>
            </a:r>
            <a:endParaRPr lang="fr-FR" dirty="0"/>
          </a:p>
        </p:txBody>
      </p:sp>
      <p:sp>
        <p:nvSpPr>
          <p:cNvPr id="48" name="Circle: Hollow 22">
            <a:extLst>
              <a:ext uri="{FF2B5EF4-FFF2-40B4-BE49-F238E27FC236}">
                <a16:creationId xmlns:a16="http://schemas.microsoft.com/office/drawing/2014/main" id="{AAD6C18E-87A1-7BC4-56C6-DF0D602DB54E}"/>
              </a:ext>
            </a:extLst>
          </p:cNvPr>
          <p:cNvSpPr/>
          <p:nvPr/>
        </p:nvSpPr>
        <p:spPr>
          <a:xfrm>
            <a:off x="6466507" y="107907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50" name="TextBox 23">
            <a:extLst>
              <a:ext uri="{FF2B5EF4-FFF2-40B4-BE49-F238E27FC236}">
                <a16:creationId xmlns:a16="http://schemas.microsoft.com/office/drawing/2014/main" id="{A7BB3404-6E01-48BE-868E-BE5E14F63902}"/>
              </a:ext>
            </a:extLst>
          </p:cNvPr>
          <p:cNvSpPr txBox="1"/>
          <p:nvPr/>
        </p:nvSpPr>
        <p:spPr>
          <a:xfrm>
            <a:off x="6809407" y="116530"/>
            <a:ext cx="1442826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Lamport clock</a:t>
            </a:r>
            <a:endParaRPr lang="fr-FR" dirty="0"/>
          </a:p>
        </p:txBody>
      </p:sp>
      <p:sp>
        <p:nvSpPr>
          <p:cNvPr id="52" name="Circle: Hollow 9">
            <a:extLst>
              <a:ext uri="{FF2B5EF4-FFF2-40B4-BE49-F238E27FC236}">
                <a16:creationId xmlns:a16="http://schemas.microsoft.com/office/drawing/2014/main" id="{F6B32C29-A684-56B0-F528-1D799D212FD4}"/>
              </a:ext>
            </a:extLst>
          </p:cNvPr>
          <p:cNvSpPr/>
          <p:nvPr/>
        </p:nvSpPr>
        <p:spPr>
          <a:xfrm>
            <a:off x="8661019" y="102184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54" name="TextBox 16">
            <a:extLst>
              <a:ext uri="{FF2B5EF4-FFF2-40B4-BE49-F238E27FC236}">
                <a16:creationId xmlns:a16="http://schemas.microsoft.com/office/drawing/2014/main" id="{DD013720-907D-F07C-38D5-562E39B36164}"/>
              </a:ext>
            </a:extLst>
          </p:cNvPr>
          <p:cNvSpPr txBox="1"/>
          <p:nvPr/>
        </p:nvSpPr>
        <p:spPr>
          <a:xfrm>
            <a:off x="9003919" y="106885"/>
            <a:ext cx="189616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 err="1">
                <a:solidFill>
                  <a:schemeClr val="bg2">
                    <a:lumMod val="75000"/>
                  </a:schemeClr>
                </a:solidFill>
              </a:rPr>
              <a:t>Results</a:t>
            </a:r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 &amp; Conclusion</a:t>
            </a:r>
            <a:endParaRPr lang="fr-FR" sz="14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5070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9C8CD-377B-DD38-3B82-27A245695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9716693C-F07F-87F5-1F0B-EFF91556C6D8}"/>
              </a:ext>
            </a:extLst>
          </p:cNvPr>
          <p:cNvGrpSpPr/>
          <p:nvPr/>
        </p:nvGrpSpPr>
        <p:grpSpPr>
          <a:xfrm>
            <a:off x="2814902" y="2623197"/>
            <a:ext cx="7567505" cy="1013871"/>
            <a:chOff x="2814902" y="2623197"/>
            <a:chExt cx="7567505" cy="101387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AC6D935-AFA5-0B9D-8E8D-E51DD7CD507D}"/>
                </a:ext>
              </a:extLst>
            </p:cNvPr>
            <p:cNvSpPr/>
            <p:nvPr/>
          </p:nvSpPr>
          <p:spPr>
            <a:xfrm>
              <a:off x="2814902" y="2623197"/>
              <a:ext cx="997692" cy="1013871"/>
            </a:xfrm>
            <a:prstGeom prst="ellipse">
              <a:avLst/>
            </a:prstGeom>
            <a:solidFill>
              <a:srgbClr val="F0F5F3"/>
            </a:solidFill>
            <a:ln w="34925">
              <a:solidFill>
                <a:srgbClr val="7C9ED7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4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  <a:endParaRPr lang="fr-FR" sz="8800" b="1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FB0A783-E9DF-F5C9-B388-D7F5E4D8EE2B}"/>
                </a:ext>
              </a:extLst>
            </p:cNvPr>
            <p:cNvSpPr txBox="1"/>
            <p:nvPr/>
          </p:nvSpPr>
          <p:spPr>
            <a:xfrm>
              <a:off x="3969118" y="2839227"/>
              <a:ext cx="6413289" cy="5847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fr-FR" sz="3200" b="1" dirty="0">
                  <a:latin typeface="Segoe UI"/>
                  <a:cs typeface="Segoe UI"/>
                </a:rPr>
                <a:t>System </a:t>
              </a:r>
              <a:r>
                <a:rPr lang="fr-FR" sz="3200" b="1" err="1">
                  <a:latin typeface="Segoe UI"/>
                  <a:cs typeface="Segoe UI"/>
                </a:rPr>
                <a:t>Overview</a:t>
              </a:r>
              <a:r>
                <a:rPr lang="fr-FR" sz="3200" b="1" dirty="0">
                  <a:latin typeface="Segoe UI"/>
                  <a:cs typeface="Segoe UI"/>
                </a:rPr>
                <a:t> &amp; Architecture</a:t>
              </a: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6D6E6588-9C1C-CFE7-FF02-4FBAC63BF0FD}"/>
              </a:ext>
            </a:extLst>
          </p:cNvPr>
          <p:cNvSpPr/>
          <p:nvPr/>
        </p:nvSpPr>
        <p:spPr>
          <a:xfrm>
            <a:off x="-1838192" y="244529"/>
            <a:ext cx="2657476" cy="2628900"/>
          </a:xfrm>
          <a:prstGeom prst="ellipse">
            <a:avLst/>
          </a:prstGeom>
          <a:solidFill>
            <a:srgbClr val="1279C5"/>
          </a:solidFill>
          <a:ln>
            <a:noFill/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3D76B3-EAF3-ED7A-AD78-C7502102449A}"/>
              </a:ext>
            </a:extLst>
          </p:cNvPr>
          <p:cNvSpPr txBox="1"/>
          <p:nvPr/>
        </p:nvSpPr>
        <p:spPr>
          <a:xfrm>
            <a:off x="11838038" y="6457890"/>
            <a:ext cx="35396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7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4594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13FF6-01B7-6F6D-3003-F56292AC2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6831FBF4-819C-EF2E-6422-02D3A025CDFF}"/>
              </a:ext>
            </a:extLst>
          </p:cNvPr>
          <p:cNvSpPr/>
          <p:nvPr/>
        </p:nvSpPr>
        <p:spPr>
          <a:xfrm>
            <a:off x="2206182" y="117553"/>
            <a:ext cx="342900" cy="342901"/>
          </a:xfrm>
          <a:prstGeom prst="ellipse">
            <a:avLst/>
          </a:prstGeom>
          <a:solidFill>
            <a:srgbClr val="1279C5"/>
          </a:solidFill>
          <a:ln>
            <a:solidFill>
              <a:srgbClr val="7C9ED7"/>
            </a:solidFill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80315D5F-6FFA-D976-9A00-48AAE3A2F878}"/>
              </a:ext>
            </a:extLst>
          </p:cNvPr>
          <p:cNvSpPr/>
          <p:nvPr/>
        </p:nvSpPr>
        <p:spPr>
          <a:xfrm>
            <a:off x="850334" y="1432754"/>
            <a:ext cx="10227302" cy="4644180"/>
          </a:xfrm>
          <a:prstGeom prst="roundRect">
            <a:avLst>
              <a:gd name="adj" fmla="val 6886"/>
            </a:avLst>
          </a:prstGeom>
          <a:solidFill>
            <a:srgbClr val="F0F5F3"/>
          </a:solidFill>
          <a:ln>
            <a:noFill/>
          </a:ln>
          <a:effectLst>
            <a:outerShdw blurRad="711200" sx="105000" sy="105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r-FR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3B46FF6-2C13-8931-4744-A484E46FB346}"/>
              </a:ext>
            </a:extLst>
          </p:cNvPr>
          <p:cNvSpPr/>
          <p:nvPr/>
        </p:nvSpPr>
        <p:spPr>
          <a:xfrm>
            <a:off x="381090" y="5477379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B66753-49F9-0100-43BA-021A1BA43313}"/>
              </a:ext>
            </a:extLst>
          </p:cNvPr>
          <p:cNvSpPr txBox="1"/>
          <p:nvPr/>
        </p:nvSpPr>
        <p:spPr>
          <a:xfrm>
            <a:off x="11838038" y="6457890"/>
            <a:ext cx="35396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8</a:t>
            </a:r>
            <a:endParaRPr lang="fr-FR" sz="2000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ircle: Hollow 11">
            <a:extLst>
              <a:ext uri="{FF2B5EF4-FFF2-40B4-BE49-F238E27FC236}">
                <a16:creationId xmlns:a16="http://schemas.microsoft.com/office/drawing/2014/main" id="{2976107C-07E2-32A7-70E4-A201FB40C61E}"/>
              </a:ext>
            </a:extLst>
          </p:cNvPr>
          <p:cNvSpPr/>
          <p:nvPr/>
        </p:nvSpPr>
        <p:spPr>
          <a:xfrm>
            <a:off x="2206182" y="111654"/>
            <a:ext cx="342900" cy="342900"/>
          </a:xfrm>
          <a:prstGeom prst="donut">
            <a:avLst>
              <a:gd name="adj" fmla="val 7542"/>
            </a:avLst>
          </a:prstGeom>
          <a:solidFill>
            <a:srgbClr val="F0F5F3"/>
          </a:solidFill>
          <a:ln>
            <a:solidFill>
              <a:srgbClr val="7C9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3D6D4F-22B5-5D6B-D813-758E914831DC}"/>
              </a:ext>
            </a:extLst>
          </p:cNvPr>
          <p:cNvSpPr txBox="1"/>
          <p:nvPr/>
        </p:nvSpPr>
        <p:spPr>
          <a:xfrm>
            <a:off x="2526643" y="33293"/>
            <a:ext cx="1295849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>
                <a:solidFill>
                  <a:srgbClr val="1279C5"/>
                </a:solidFill>
              </a:rPr>
              <a:t>Sys. </a:t>
            </a:r>
            <a:r>
              <a:rPr lang="fr-FR" sz="1400" dirty="0" err="1">
                <a:solidFill>
                  <a:srgbClr val="1279C5"/>
                </a:solidFill>
              </a:rPr>
              <a:t>Overview</a:t>
            </a:r>
            <a:r>
              <a:rPr lang="fr-FR" sz="1400" dirty="0">
                <a:solidFill>
                  <a:srgbClr val="1279C5"/>
                </a:solidFill>
              </a:rPr>
              <a:t> &amp; architecture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5C98E03-C542-69EB-FDF7-793BF8091E38}"/>
              </a:ext>
            </a:extLst>
          </p:cNvPr>
          <p:cNvGrpSpPr/>
          <p:nvPr/>
        </p:nvGrpSpPr>
        <p:grpSpPr>
          <a:xfrm>
            <a:off x="395683" y="108614"/>
            <a:ext cx="1563491" cy="342902"/>
            <a:chOff x="2401581" y="269029"/>
            <a:chExt cx="1563491" cy="342902"/>
          </a:xfrm>
        </p:grpSpPr>
        <p:sp>
          <p:nvSpPr>
            <p:cNvPr id="28" name="Circle: Hollow 27">
              <a:extLst>
                <a:ext uri="{FF2B5EF4-FFF2-40B4-BE49-F238E27FC236}">
                  <a16:creationId xmlns:a16="http://schemas.microsoft.com/office/drawing/2014/main" id="{8A9E542B-A305-99AB-10AB-A35C58A04222}"/>
                </a:ext>
              </a:extLst>
            </p:cNvPr>
            <p:cNvSpPr/>
            <p:nvPr/>
          </p:nvSpPr>
          <p:spPr>
            <a:xfrm>
              <a:off x="2401581" y="269031"/>
              <a:ext cx="342900" cy="342900"/>
            </a:xfrm>
            <a:prstGeom prst="donut">
              <a:avLst>
                <a:gd name="adj" fmla="val 7542"/>
              </a:avLst>
            </a:prstGeom>
            <a:solidFill>
              <a:srgbClr val="D2D5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noProof="0" dirty="0">
                  <a:solidFill>
                    <a:srgbClr val="D2D5D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93590CF-30A9-DDDE-6780-B46D9C30F7B9}"/>
                </a:ext>
              </a:extLst>
            </p:cNvPr>
            <p:cNvSpPr txBox="1"/>
            <p:nvPr/>
          </p:nvSpPr>
          <p:spPr>
            <a:xfrm>
              <a:off x="2738579" y="269029"/>
              <a:ext cx="12264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rgbClr val="D2D5D3"/>
                  </a:solidFill>
                </a:rPr>
                <a:t>I</a:t>
              </a:r>
              <a:r>
                <a:rPr lang="fr-FR" sz="1400" b="1" dirty="0" err="1">
                  <a:solidFill>
                    <a:srgbClr val="D2D5D3"/>
                  </a:solidFill>
                </a:rPr>
                <a:t>ntroduction</a:t>
              </a:r>
              <a:endParaRPr lang="fr-FR" sz="1400" b="1" noProof="0" dirty="0">
                <a:solidFill>
                  <a:srgbClr val="D2D5D3"/>
                </a:solidFill>
              </a:endParaRPr>
            </a:p>
          </p:txBody>
        </p:sp>
      </p:grpSp>
      <p:pic>
        <p:nvPicPr>
          <p:cNvPr id="2" name="Image 1" descr="Une image contenant capture d’écran, Caractère coloré, Graphique, ligne&#10;&#10;Le contenu généré par l’IA peut être incorrect.">
            <a:extLst>
              <a:ext uri="{FF2B5EF4-FFF2-40B4-BE49-F238E27FC236}">
                <a16:creationId xmlns:a16="http://schemas.microsoft.com/office/drawing/2014/main" id="{5F114835-9894-A872-F9E6-CEA067E23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107" y="3172215"/>
            <a:ext cx="1087679" cy="117118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32E393F-6212-49B4-CE9B-30C1F0042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860" y="2671173"/>
            <a:ext cx="784965" cy="76408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4A8B29E-F5FA-5FD1-676D-255C8612A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435" y="2838188"/>
            <a:ext cx="701458" cy="67014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637E370-8BA2-0DCE-E81B-2F22DD1A7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956" y="4706653"/>
            <a:ext cx="805841" cy="7745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8F8E2AE-4D1F-1191-8527-6BBB3DC16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955" y="4706653"/>
            <a:ext cx="701458" cy="670142"/>
          </a:xfrm>
          <a:prstGeom prst="rect">
            <a:avLst/>
          </a:prstGeom>
        </p:spPr>
      </p:pic>
      <p:sp>
        <p:nvSpPr>
          <p:cNvPr id="10" name="TextBox 36">
            <a:extLst>
              <a:ext uri="{FF2B5EF4-FFF2-40B4-BE49-F238E27FC236}">
                <a16:creationId xmlns:a16="http://schemas.microsoft.com/office/drawing/2014/main" id="{ADADCBFC-038F-03DA-978F-0F8808825E15}"/>
              </a:ext>
            </a:extLst>
          </p:cNvPr>
          <p:cNvSpPr txBox="1"/>
          <p:nvPr/>
        </p:nvSpPr>
        <p:spPr>
          <a:xfrm>
            <a:off x="3049134" y="1719206"/>
            <a:ext cx="564051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800" b="1" dirty="0" err="1">
                <a:ea typeface="+mn-lt"/>
                <a:cs typeface="+mn-lt"/>
              </a:rPr>
              <a:t>Centralized</a:t>
            </a:r>
            <a:r>
              <a:rPr lang="fr-FR" sz="2800" b="1" dirty="0">
                <a:ea typeface="+mn-lt"/>
                <a:cs typeface="+mn-lt"/>
              </a:rPr>
              <a:t> client–server model</a:t>
            </a:r>
            <a:endParaRPr lang="fr-FR" dirty="0"/>
          </a:p>
        </p:txBody>
      </p: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D98DC4E0-D982-2889-443E-C6F58807262B}"/>
              </a:ext>
            </a:extLst>
          </p:cNvPr>
          <p:cNvCxnSpPr/>
          <p:nvPr/>
        </p:nvCxnSpPr>
        <p:spPr>
          <a:xfrm>
            <a:off x="3847495" y="3198003"/>
            <a:ext cx="1421617" cy="626033"/>
          </a:xfrm>
          <a:prstGeom prst="bentConnector3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0E9D30FB-8355-37E0-9E4C-52FBFC84CEA2}"/>
              </a:ext>
            </a:extLst>
          </p:cNvPr>
          <p:cNvCxnSpPr/>
          <p:nvPr/>
        </p:nvCxnSpPr>
        <p:spPr>
          <a:xfrm flipH="1">
            <a:off x="6358926" y="3054516"/>
            <a:ext cx="1232262" cy="706891"/>
          </a:xfrm>
          <a:prstGeom prst="bentConnector3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D8F5B7DF-C42A-8A06-2D03-C40B915384C0}"/>
              </a:ext>
            </a:extLst>
          </p:cNvPr>
          <p:cNvCxnSpPr/>
          <p:nvPr/>
        </p:nvCxnSpPr>
        <p:spPr>
          <a:xfrm flipH="1">
            <a:off x="4230505" y="4197035"/>
            <a:ext cx="1044285" cy="902550"/>
          </a:xfrm>
          <a:prstGeom prst="bentConnector3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 : en angle 18">
            <a:extLst>
              <a:ext uri="{FF2B5EF4-FFF2-40B4-BE49-F238E27FC236}">
                <a16:creationId xmlns:a16="http://schemas.microsoft.com/office/drawing/2014/main" id="{E6F70DD6-DDF7-533C-ACFB-DDCA724F6023}"/>
              </a:ext>
            </a:extLst>
          </p:cNvPr>
          <p:cNvCxnSpPr/>
          <p:nvPr/>
        </p:nvCxnSpPr>
        <p:spPr>
          <a:xfrm>
            <a:off x="6299459" y="4290936"/>
            <a:ext cx="939049" cy="743414"/>
          </a:xfrm>
          <a:prstGeom prst="bentConnector3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ircle: Hollow 19">
            <a:extLst>
              <a:ext uri="{FF2B5EF4-FFF2-40B4-BE49-F238E27FC236}">
                <a16:creationId xmlns:a16="http://schemas.microsoft.com/office/drawing/2014/main" id="{083F6561-8EF1-31E1-BC83-470C7BBB0D86}"/>
              </a:ext>
            </a:extLst>
          </p:cNvPr>
          <p:cNvSpPr/>
          <p:nvPr/>
        </p:nvSpPr>
        <p:spPr>
          <a:xfrm>
            <a:off x="4256658" y="107907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45" name="TextBox 20">
            <a:extLst>
              <a:ext uri="{FF2B5EF4-FFF2-40B4-BE49-F238E27FC236}">
                <a16:creationId xmlns:a16="http://schemas.microsoft.com/office/drawing/2014/main" id="{1A2A8CE8-4642-6E60-72B7-50CCDE60C80E}"/>
              </a:ext>
            </a:extLst>
          </p:cNvPr>
          <p:cNvSpPr txBox="1"/>
          <p:nvPr/>
        </p:nvSpPr>
        <p:spPr>
          <a:xfrm>
            <a:off x="4577324" y="17747"/>
            <a:ext cx="16745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Communication &amp; implementation</a:t>
            </a:r>
            <a:endParaRPr lang="fr-FR" dirty="0"/>
          </a:p>
        </p:txBody>
      </p:sp>
      <p:sp>
        <p:nvSpPr>
          <p:cNvPr id="47" name="Circle: Hollow 22">
            <a:extLst>
              <a:ext uri="{FF2B5EF4-FFF2-40B4-BE49-F238E27FC236}">
                <a16:creationId xmlns:a16="http://schemas.microsoft.com/office/drawing/2014/main" id="{1D0038EB-6E2D-D1F7-526D-2F3D3DEBA25F}"/>
              </a:ext>
            </a:extLst>
          </p:cNvPr>
          <p:cNvSpPr/>
          <p:nvPr/>
        </p:nvSpPr>
        <p:spPr>
          <a:xfrm>
            <a:off x="6611191" y="107907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55" name="TextBox 23">
            <a:extLst>
              <a:ext uri="{FF2B5EF4-FFF2-40B4-BE49-F238E27FC236}">
                <a16:creationId xmlns:a16="http://schemas.microsoft.com/office/drawing/2014/main" id="{1EA51EAA-637B-BAAA-C3CE-794C4D277F73}"/>
              </a:ext>
            </a:extLst>
          </p:cNvPr>
          <p:cNvSpPr txBox="1"/>
          <p:nvPr/>
        </p:nvSpPr>
        <p:spPr>
          <a:xfrm>
            <a:off x="6954091" y="116530"/>
            <a:ext cx="1442826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Lamport clock</a:t>
            </a:r>
            <a:endParaRPr lang="fr-FR" dirty="0"/>
          </a:p>
        </p:txBody>
      </p:sp>
      <p:sp>
        <p:nvSpPr>
          <p:cNvPr id="57" name="Circle: Hollow 9">
            <a:extLst>
              <a:ext uri="{FF2B5EF4-FFF2-40B4-BE49-F238E27FC236}">
                <a16:creationId xmlns:a16="http://schemas.microsoft.com/office/drawing/2014/main" id="{138E6316-C3D2-0CFA-1A94-AA39CBBA2FC8}"/>
              </a:ext>
            </a:extLst>
          </p:cNvPr>
          <p:cNvSpPr/>
          <p:nvPr/>
        </p:nvSpPr>
        <p:spPr>
          <a:xfrm>
            <a:off x="8805703" y="102184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59" name="TextBox 16">
            <a:extLst>
              <a:ext uri="{FF2B5EF4-FFF2-40B4-BE49-F238E27FC236}">
                <a16:creationId xmlns:a16="http://schemas.microsoft.com/office/drawing/2014/main" id="{A91AEBB6-D8B6-0545-9535-F5B19C3203B2}"/>
              </a:ext>
            </a:extLst>
          </p:cNvPr>
          <p:cNvSpPr txBox="1"/>
          <p:nvPr/>
        </p:nvSpPr>
        <p:spPr>
          <a:xfrm>
            <a:off x="9148603" y="106885"/>
            <a:ext cx="189616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 err="1">
                <a:solidFill>
                  <a:schemeClr val="bg2">
                    <a:lumMod val="75000"/>
                  </a:schemeClr>
                </a:solidFill>
              </a:rPr>
              <a:t>Results</a:t>
            </a:r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 &amp; Conclusion</a:t>
            </a:r>
            <a:endParaRPr lang="fr-FR" sz="14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896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5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25831-F953-5708-343E-795BC3D91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55A5705-7DDC-963D-FC33-B786D214CC61}"/>
              </a:ext>
            </a:extLst>
          </p:cNvPr>
          <p:cNvSpPr/>
          <p:nvPr/>
        </p:nvSpPr>
        <p:spPr>
          <a:xfrm>
            <a:off x="850334" y="1432754"/>
            <a:ext cx="10227302" cy="4644180"/>
          </a:xfrm>
          <a:prstGeom prst="roundRect">
            <a:avLst>
              <a:gd name="adj" fmla="val 6886"/>
            </a:avLst>
          </a:prstGeom>
          <a:solidFill>
            <a:srgbClr val="F0F5F3"/>
          </a:solidFill>
          <a:ln>
            <a:noFill/>
          </a:ln>
          <a:effectLst>
            <a:outerShdw blurRad="711200" sx="105000" sy="105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r-FR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FCD2DD-E417-58B3-6C2E-9EC96424F261}"/>
              </a:ext>
            </a:extLst>
          </p:cNvPr>
          <p:cNvSpPr/>
          <p:nvPr/>
        </p:nvSpPr>
        <p:spPr>
          <a:xfrm>
            <a:off x="381090" y="5477379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5AF4F3-CE80-05DF-643B-10A6CEDDA3D9}"/>
              </a:ext>
            </a:extLst>
          </p:cNvPr>
          <p:cNvSpPr txBox="1"/>
          <p:nvPr/>
        </p:nvSpPr>
        <p:spPr>
          <a:xfrm>
            <a:off x="11838038" y="6457890"/>
            <a:ext cx="35396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9</a:t>
            </a:r>
            <a:endParaRPr lang="fr-FR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A683B1E-AE87-F784-DDCD-0B352954ADF4}"/>
              </a:ext>
            </a:extLst>
          </p:cNvPr>
          <p:cNvGrpSpPr/>
          <p:nvPr/>
        </p:nvGrpSpPr>
        <p:grpSpPr>
          <a:xfrm>
            <a:off x="395683" y="108614"/>
            <a:ext cx="1563491" cy="342902"/>
            <a:chOff x="2401581" y="269029"/>
            <a:chExt cx="1563491" cy="342902"/>
          </a:xfrm>
        </p:grpSpPr>
        <p:sp>
          <p:nvSpPr>
            <p:cNvPr id="28" name="Circle: Hollow 27">
              <a:extLst>
                <a:ext uri="{FF2B5EF4-FFF2-40B4-BE49-F238E27FC236}">
                  <a16:creationId xmlns:a16="http://schemas.microsoft.com/office/drawing/2014/main" id="{02265B81-F2D8-B563-953B-1D265B0A1446}"/>
                </a:ext>
              </a:extLst>
            </p:cNvPr>
            <p:cNvSpPr/>
            <p:nvPr/>
          </p:nvSpPr>
          <p:spPr>
            <a:xfrm>
              <a:off x="2401581" y="269031"/>
              <a:ext cx="342900" cy="342900"/>
            </a:xfrm>
            <a:prstGeom prst="donut">
              <a:avLst>
                <a:gd name="adj" fmla="val 7542"/>
              </a:avLst>
            </a:prstGeom>
            <a:solidFill>
              <a:srgbClr val="D2D5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noProof="0" dirty="0">
                  <a:solidFill>
                    <a:srgbClr val="D2D5D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4311CC7-308E-C864-0CC1-3C07F7C8DB01}"/>
                </a:ext>
              </a:extLst>
            </p:cNvPr>
            <p:cNvSpPr txBox="1"/>
            <p:nvPr/>
          </p:nvSpPr>
          <p:spPr>
            <a:xfrm>
              <a:off x="2738579" y="269029"/>
              <a:ext cx="12264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rgbClr val="D2D5D3"/>
                  </a:solidFill>
                </a:rPr>
                <a:t>I</a:t>
              </a:r>
              <a:r>
                <a:rPr lang="fr-FR" sz="1400" b="1" dirty="0" err="1">
                  <a:solidFill>
                    <a:srgbClr val="D2D5D3"/>
                  </a:solidFill>
                </a:rPr>
                <a:t>ntroduction</a:t>
              </a:r>
              <a:endParaRPr lang="fr-FR" sz="1400" b="1" noProof="0" dirty="0">
                <a:solidFill>
                  <a:srgbClr val="D2D5D3"/>
                </a:solidFill>
              </a:endParaRPr>
            </a:p>
          </p:txBody>
        </p:sp>
      </p:grpSp>
      <p:pic>
        <p:nvPicPr>
          <p:cNvPr id="2" name="Image 1" descr="Une image contenant capture d’écran, Caractère coloré, Graphique, ligne&#10;&#10;Le contenu généré par l’IA peut être incorrect.">
            <a:extLst>
              <a:ext uri="{FF2B5EF4-FFF2-40B4-BE49-F238E27FC236}">
                <a16:creationId xmlns:a16="http://schemas.microsoft.com/office/drawing/2014/main" id="{4A5C4770-7C97-B31F-7BE5-161056393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586" y="2900818"/>
            <a:ext cx="1807925" cy="1985375"/>
          </a:xfrm>
          <a:prstGeom prst="rect">
            <a:avLst/>
          </a:prstGeom>
        </p:spPr>
      </p:pic>
      <p:sp>
        <p:nvSpPr>
          <p:cNvPr id="10" name="TextBox 36">
            <a:extLst>
              <a:ext uri="{FF2B5EF4-FFF2-40B4-BE49-F238E27FC236}">
                <a16:creationId xmlns:a16="http://schemas.microsoft.com/office/drawing/2014/main" id="{D135C57E-041B-6363-0D9E-DA121D392F32}"/>
              </a:ext>
            </a:extLst>
          </p:cNvPr>
          <p:cNvSpPr txBox="1"/>
          <p:nvPr/>
        </p:nvSpPr>
        <p:spPr>
          <a:xfrm>
            <a:off x="4020297" y="1907889"/>
            <a:ext cx="178875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800" b="1" dirty="0"/>
              <a:t>Server</a:t>
            </a:r>
          </a:p>
        </p:txBody>
      </p:sp>
      <p:grpSp>
        <p:nvGrpSpPr>
          <p:cNvPr id="15" name="Group 72">
            <a:extLst>
              <a:ext uri="{FF2B5EF4-FFF2-40B4-BE49-F238E27FC236}">
                <a16:creationId xmlns:a16="http://schemas.microsoft.com/office/drawing/2014/main" id="{8083AFFA-4952-13C6-3556-FF732BE85780}"/>
              </a:ext>
            </a:extLst>
          </p:cNvPr>
          <p:cNvGrpSpPr/>
          <p:nvPr/>
        </p:nvGrpSpPr>
        <p:grpSpPr>
          <a:xfrm>
            <a:off x="4141205" y="3667222"/>
            <a:ext cx="6259920" cy="461665"/>
            <a:chOff x="4348459" y="2311708"/>
            <a:chExt cx="6027364" cy="461665"/>
          </a:xfrm>
        </p:grpSpPr>
        <p:sp>
          <p:nvSpPr>
            <p:cNvPr id="9" name="Oval 55">
              <a:extLst>
                <a:ext uri="{FF2B5EF4-FFF2-40B4-BE49-F238E27FC236}">
                  <a16:creationId xmlns:a16="http://schemas.microsoft.com/office/drawing/2014/main" id="{FC81AD60-B5FD-0CCF-2E37-3E9A622080F5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TextBox 60">
              <a:extLst>
                <a:ext uri="{FF2B5EF4-FFF2-40B4-BE49-F238E27FC236}">
                  <a16:creationId xmlns:a16="http://schemas.microsoft.com/office/drawing/2014/main" id="{1C74C0C1-7426-98FB-420E-620DAD76789E}"/>
                </a:ext>
              </a:extLst>
            </p:cNvPr>
            <p:cNvSpPr txBox="1"/>
            <p:nvPr/>
          </p:nvSpPr>
          <p:spPr>
            <a:xfrm>
              <a:off x="4757285" y="2311708"/>
              <a:ext cx="561853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 err="1">
                  <a:ea typeface="+mn-lt"/>
                  <a:cs typeface="+mn-lt"/>
                </a:rPr>
                <a:t>Maintain</a:t>
              </a:r>
              <a:r>
                <a:rPr lang="fr-FR" sz="2400" dirty="0">
                  <a:ea typeface="+mn-lt"/>
                  <a:cs typeface="+mn-lt"/>
                </a:rPr>
                <a:t> </a:t>
              </a:r>
              <a:r>
                <a:rPr lang="fr-FR" sz="2400" dirty="0" err="1">
                  <a:ea typeface="+mn-lt"/>
                  <a:cs typeface="+mn-lt"/>
                </a:rPr>
                <a:t>list</a:t>
              </a:r>
              <a:r>
                <a:rPr lang="fr-FR" sz="2400" dirty="0">
                  <a:ea typeface="+mn-lt"/>
                  <a:cs typeface="+mn-lt"/>
                </a:rPr>
                <a:t> of </a:t>
              </a:r>
              <a:r>
                <a:rPr lang="fr-FR" sz="2400" dirty="0" err="1">
                  <a:ea typeface="+mn-lt"/>
                  <a:cs typeface="+mn-lt"/>
                </a:rPr>
                <a:t>connected</a:t>
              </a:r>
              <a:r>
                <a:rPr lang="fr-FR" sz="2400" dirty="0">
                  <a:ea typeface="+mn-lt"/>
                  <a:cs typeface="+mn-lt"/>
                </a:rPr>
                <a:t> </a:t>
              </a:r>
              <a:r>
                <a:rPr lang="fr-FR" sz="2400" dirty="0" err="1">
                  <a:ea typeface="+mn-lt"/>
                  <a:cs typeface="+mn-lt"/>
                </a:rPr>
                <a:t>users</a:t>
              </a:r>
              <a:endParaRPr lang="fr-FR" dirty="0" err="1"/>
            </a:p>
          </p:txBody>
        </p:sp>
      </p:grpSp>
      <p:grpSp>
        <p:nvGrpSpPr>
          <p:cNvPr id="24" name="Group 72">
            <a:extLst>
              <a:ext uri="{FF2B5EF4-FFF2-40B4-BE49-F238E27FC236}">
                <a16:creationId xmlns:a16="http://schemas.microsoft.com/office/drawing/2014/main" id="{744EBFB0-7DC0-0752-0423-0C66F4A1CA2A}"/>
              </a:ext>
            </a:extLst>
          </p:cNvPr>
          <p:cNvGrpSpPr/>
          <p:nvPr/>
        </p:nvGrpSpPr>
        <p:grpSpPr>
          <a:xfrm>
            <a:off x="4141205" y="2972741"/>
            <a:ext cx="6259920" cy="461665"/>
            <a:chOff x="4348459" y="2311708"/>
            <a:chExt cx="6027364" cy="461665"/>
          </a:xfrm>
        </p:grpSpPr>
        <p:sp>
          <p:nvSpPr>
            <p:cNvPr id="21" name="Oval 55">
              <a:extLst>
                <a:ext uri="{FF2B5EF4-FFF2-40B4-BE49-F238E27FC236}">
                  <a16:creationId xmlns:a16="http://schemas.microsoft.com/office/drawing/2014/main" id="{9C7B3848-7EBC-43DD-7994-73112CCA1D23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TextBox 60">
              <a:extLst>
                <a:ext uri="{FF2B5EF4-FFF2-40B4-BE49-F238E27FC236}">
                  <a16:creationId xmlns:a16="http://schemas.microsoft.com/office/drawing/2014/main" id="{74BD47E7-5C68-299E-854A-0B68DF1408FD}"/>
                </a:ext>
              </a:extLst>
            </p:cNvPr>
            <p:cNvSpPr txBox="1"/>
            <p:nvPr/>
          </p:nvSpPr>
          <p:spPr>
            <a:xfrm>
              <a:off x="4757285" y="2311708"/>
              <a:ext cx="561853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 err="1">
                  <a:ea typeface="+mn-lt"/>
                  <a:cs typeface="+mn-lt"/>
                </a:rPr>
                <a:t>Accept</a:t>
              </a:r>
              <a:r>
                <a:rPr lang="fr-FR" sz="2400" dirty="0">
                  <a:ea typeface="+mn-lt"/>
                  <a:cs typeface="+mn-lt"/>
                </a:rPr>
                <a:t> client connections</a:t>
              </a:r>
              <a:endParaRPr lang="fr-FR" dirty="0"/>
            </a:p>
          </p:txBody>
        </p:sp>
      </p:grpSp>
      <p:grpSp>
        <p:nvGrpSpPr>
          <p:cNvPr id="31" name="Group 72">
            <a:extLst>
              <a:ext uri="{FF2B5EF4-FFF2-40B4-BE49-F238E27FC236}">
                <a16:creationId xmlns:a16="http://schemas.microsoft.com/office/drawing/2014/main" id="{9AED7184-25B2-70B1-AB1D-BCA716C6ED07}"/>
              </a:ext>
            </a:extLst>
          </p:cNvPr>
          <p:cNvGrpSpPr/>
          <p:nvPr/>
        </p:nvGrpSpPr>
        <p:grpSpPr>
          <a:xfrm>
            <a:off x="4141205" y="4313475"/>
            <a:ext cx="6259920" cy="461665"/>
            <a:chOff x="4348459" y="2311708"/>
            <a:chExt cx="6027364" cy="461665"/>
          </a:xfrm>
        </p:grpSpPr>
        <p:sp>
          <p:nvSpPr>
            <p:cNvPr id="26" name="Oval 55">
              <a:extLst>
                <a:ext uri="{FF2B5EF4-FFF2-40B4-BE49-F238E27FC236}">
                  <a16:creationId xmlns:a16="http://schemas.microsoft.com/office/drawing/2014/main" id="{B578C9AD-7381-E644-85F7-9C32E6BEBABC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TextBox 60">
              <a:extLst>
                <a:ext uri="{FF2B5EF4-FFF2-40B4-BE49-F238E27FC236}">
                  <a16:creationId xmlns:a16="http://schemas.microsoft.com/office/drawing/2014/main" id="{E8F3A1DF-643A-76ED-A36C-3C06959CCE6C}"/>
                </a:ext>
              </a:extLst>
            </p:cNvPr>
            <p:cNvSpPr txBox="1"/>
            <p:nvPr/>
          </p:nvSpPr>
          <p:spPr>
            <a:xfrm>
              <a:off x="4757285" y="2311708"/>
              <a:ext cx="561853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>
                  <a:ea typeface="+mn-lt"/>
                  <a:cs typeface="+mn-lt"/>
                </a:rPr>
                <a:t>Route </a:t>
              </a:r>
              <a:r>
                <a:rPr lang="fr-FR" sz="2400" dirty="0" err="1">
                  <a:ea typeface="+mn-lt"/>
                  <a:cs typeface="+mn-lt"/>
                </a:rPr>
                <a:t>private</a:t>
              </a:r>
              <a:r>
                <a:rPr lang="fr-FR" sz="2400" dirty="0">
                  <a:ea typeface="+mn-lt"/>
                  <a:cs typeface="+mn-lt"/>
                </a:rPr>
                <a:t> messages</a:t>
              </a:r>
              <a:endParaRPr lang="fr-FR" dirty="0"/>
            </a:p>
          </p:txBody>
        </p:sp>
      </p:grpSp>
      <p:sp>
        <p:nvSpPr>
          <p:cNvPr id="33" name="Circle: Hollow 19">
            <a:extLst>
              <a:ext uri="{FF2B5EF4-FFF2-40B4-BE49-F238E27FC236}">
                <a16:creationId xmlns:a16="http://schemas.microsoft.com/office/drawing/2014/main" id="{4E661ED4-D9F5-6833-27A0-E2DE3105E4A7}"/>
              </a:ext>
            </a:extLst>
          </p:cNvPr>
          <p:cNvSpPr/>
          <p:nvPr/>
        </p:nvSpPr>
        <p:spPr>
          <a:xfrm>
            <a:off x="4111974" y="117553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35" name="TextBox 20">
            <a:extLst>
              <a:ext uri="{FF2B5EF4-FFF2-40B4-BE49-F238E27FC236}">
                <a16:creationId xmlns:a16="http://schemas.microsoft.com/office/drawing/2014/main" id="{75338148-A6D2-AD10-3C9B-7828D3E1DB05}"/>
              </a:ext>
            </a:extLst>
          </p:cNvPr>
          <p:cNvSpPr txBox="1"/>
          <p:nvPr/>
        </p:nvSpPr>
        <p:spPr>
          <a:xfrm>
            <a:off x="4432640" y="27393"/>
            <a:ext cx="16745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Communication &amp; implementation</a:t>
            </a:r>
            <a:endParaRPr lang="fr-FR" dirty="0"/>
          </a:p>
        </p:txBody>
      </p:sp>
      <p:sp>
        <p:nvSpPr>
          <p:cNvPr id="37" name="Circle: Hollow 22">
            <a:extLst>
              <a:ext uri="{FF2B5EF4-FFF2-40B4-BE49-F238E27FC236}">
                <a16:creationId xmlns:a16="http://schemas.microsoft.com/office/drawing/2014/main" id="{33E2745A-7BC9-69C1-4FE0-B1EE9BC4FF1D}"/>
              </a:ext>
            </a:extLst>
          </p:cNvPr>
          <p:cNvSpPr/>
          <p:nvPr/>
        </p:nvSpPr>
        <p:spPr>
          <a:xfrm>
            <a:off x="6466507" y="117553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39" name="TextBox 23">
            <a:extLst>
              <a:ext uri="{FF2B5EF4-FFF2-40B4-BE49-F238E27FC236}">
                <a16:creationId xmlns:a16="http://schemas.microsoft.com/office/drawing/2014/main" id="{40D93981-AB29-C7CF-ED85-79218785152F}"/>
              </a:ext>
            </a:extLst>
          </p:cNvPr>
          <p:cNvSpPr txBox="1"/>
          <p:nvPr/>
        </p:nvSpPr>
        <p:spPr>
          <a:xfrm>
            <a:off x="6809407" y="126176"/>
            <a:ext cx="1442826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Lamport clock</a:t>
            </a:r>
            <a:endParaRPr lang="fr-FR" dirty="0"/>
          </a:p>
        </p:txBody>
      </p:sp>
      <p:sp>
        <p:nvSpPr>
          <p:cNvPr id="41" name="Circle: Hollow 9">
            <a:extLst>
              <a:ext uri="{FF2B5EF4-FFF2-40B4-BE49-F238E27FC236}">
                <a16:creationId xmlns:a16="http://schemas.microsoft.com/office/drawing/2014/main" id="{3770C2E7-1118-9868-C984-C80420D3B50B}"/>
              </a:ext>
            </a:extLst>
          </p:cNvPr>
          <p:cNvSpPr/>
          <p:nvPr/>
        </p:nvSpPr>
        <p:spPr>
          <a:xfrm>
            <a:off x="8661019" y="111830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A649A450-CBAF-3B8D-490B-EE2F518B6BD5}"/>
              </a:ext>
            </a:extLst>
          </p:cNvPr>
          <p:cNvSpPr txBox="1"/>
          <p:nvPr/>
        </p:nvSpPr>
        <p:spPr>
          <a:xfrm>
            <a:off x="9003919" y="116531"/>
            <a:ext cx="189616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 err="1">
                <a:solidFill>
                  <a:schemeClr val="bg2">
                    <a:lumMod val="75000"/>
                  </a:schemeClr>
                </a:solidFill>
              </a:rPr>
              <a:t>Results</a:t>
            </a:r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 &amp; Conclusion</a:t>
            </a:r>
            <a:endParaRPr lang="fr-FR" sz="14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5" name="Oval 21">
            <a:extLst>
              <a:ext uri="{FF2B5EF4-FFF2-40B4-BE49-F238E27FC236}">
                <a16:creationId xmlns:a16="http://schemas.microsoft.com/office/drawing/2014/main" id="{4E7334AA-569B-DF2E-C2BA-7D1EA03E5279}"/>
              </a:ext>
            </a:extLst>
          </p:cNvPr>
          <p:cNvSpPr/>
          <p:nvPr/>
        </p:nvSpPr>
        <p:spPr>
          <a:xfrm>
            <a:off x="2206182" y="117553"/>
            <a:ext cx="342900" cy="342901"/>
          </a:xfrm>
          <a:prstGeom prst="ellipse">
            <a:avLst/>
          </a:prstGeom>
          <a:solidFill>
            <a:srgbClr val="1279C5"/>
          </a:solidFill>
          <a:ln>
            <a:solidFill>
              <a:srgbClr val="7C9ED7"/>
            </a:solidFill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Circle: Hollow 11">
            <a:extLst>
              <a:ext uri="{FF2B5EF4-FFF2-40B4-BE49-F238E27FC236}">
                <a16:creationId xmlns:a16="http://schemas.microsoft.com/office/drawing/2014/main" id="{5DBC3C61-4B15-B60B-0E59-F2222E9F2251}"/>
              </a:ext>
            </a:extLst>
          </p:cNvPr>
          <p:cNvSpPr/>
          <p:nvPr/>
        </p:nvSpPr>
        <p:spPr>
          <a:xfrm>
            <a:off x="2206182" y="111654"/>
            <a:ext cx="342900" cy="342900"/>
          </a:xfrm>
          <a:prstGeom prst="donut">
            <a:avLst>
              <a:gd name="adj" fmla="val 7542"/>
            </a:avLst>
          </a:prstGeom>
          <a:solidFill>
            <a:srgbClr val="F0F5F3"/>
          </a:solidFill>
          <a:ln>
            <a:solidFill>
              <a:srgbClr val="7C9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55" name="TextBox 16">
            <a:extLst>
              <a:ext uri="{FF2B5EF4-FFF2-40B4-BE49-F238E27FC236}">
                <a16:creationId xmlns:a16="http://schemas.microsoft.com/office/drawing/2014/main" id="{CB94C7CC-8730-43C5-8918-094813C7A892}"/>
              </a:ext>
            </a:extLst>
          </p:cNvPr>
          <p:cNvSpPr txBox="1"/>
          <p:nvPr/>
        </p:nvSpPr>
        <p:spPr>
          <a:xfrm>
            <a:off x="2526643" y="33293"/>
            <a:ext cx="1295849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>
                <a:solidFill>
                  <a:srgbClr val="1279C5"/>
                </a:solidFill>
              </a:rPr>
              <a:t>Sys. </a:t>
            </a:r>
            <a:r>
              <a:rPr lang="fr-FR" sz="1400" dirty="0" err="1">
                <a:solidFill>
                  <a:srgbClr val="1279C5"/>
                </a:solidFill>
              </a:rPr>
              <a:t>Overview</a:t>
            </a:r>
            <a:r>
              <a:rPr lang="fr-FR" sz="1400" dirty="0">
                <a:solidFill>
                  <a:srgbClr val="1279C5"/>
                </a:solidFill>
              </a:rPr>
              <a:t>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713610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734D1-B683-548B-D85B-36BFF2357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FAA86E6B-EFA4-CF74-4D6C-ADA76686D198}"/>
              </a:ext>
            </a:extLst>
          </p:cNvPr>
          <p:cNvSpPr/>
          <p:nvPr/>
        </p:nvSpPr>
        <p:spPr>
          <a:xfrm>
            <a:off x="850334" y="1432754"/>
            <a:ext cx="10227302" cy="4644180"/>
          </a:xfrm>
          <a:prstGeom prst="roundRect">
            <a:avLst>
              <a:gd name="adj" fmla="val 6886"/>
            </a:avLst>
          </a:prstGeom>
          <a:solidFill>
            <a:srgbClr val="F0F5F3"/>
          </a:solidFill>
          <a:ln>
            <a:noFill/>
          </a:ln>
          <a:effectLst>
            <a:outerShdw blurRad="711200" sx="105000" sy="105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r-FR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EAE4446-F231-2F02-3022-5DE00A13CC4D}"/>
              </a:ext>
            </a:extLst>
          </p:cNvPr>
          <p:cNvSpPr/>
          <p:nvPr/>
        </p:nvSpPr>
        <p:spPr>
          <a:xfrm>
            <a:off x="381090" y="5477379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1528DF-7026-B9DF-B5A0-47DA2CF0BF2D}"/>
              </a:ext>
            </a:extLst>
          </p:cNvPr>
          <p:cNvSpPr txBox="1"/>
          <p:nvPr/>
        </p:nvSpPr>
        <p:spPr>
          <a:xfrm>
            <a:off x="11707410" y="6403462"/>
            <a:ext cx="48459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10</a:t>
            </a:r>
            <a:endParaRPr lang="fr-FR" sz="2000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3721012-1871-EB96-4A9D-F3EA40C20C9B}"/>
              </a:ext>
            </a:extLst>
          </p:cNvPr>
          <p:cNvGrpSpPr/>
          <p:nvPr/>
        </p:nvGrpSpPr>
        <p:grpSpPr>
          <a:xfrm>
            <a:off x="395683" y="108614"/>
            <a:ext cx="1563491" cy="342902"/>
            <a:chOff x="2401581" y="269029"/>
            <a:chExt cx="1563491" cy="342902"/>
          </a:xfrm>
        </p:grpSpPr>
        <p:sp>
          <p:nvSpPr>
            <p:cNvPr id="28" name="Circle: Hollow 27">
              <a:extLst>
                <a:ext uri="{FF2B5EF4-FFF2-40B4-BE49-F238E27FC236}">
                  <a16:creationId xmlns:a16="http://schemas.microsoft.com/office/drawing/2014/main" id="{44F4A141-1362-8C4E-2E1A-62540284B1A8}"/>
                </a:ext>
              </a:extLst>
            </p:cNvPr>
            <p:cNvSpPr/>
            <p:nvPr/>
          </p:nvSpPr>
          <p:spPr>
            <a:xfrm>
              <a:off x="2401581" y="269031"/>
              <a:ext cx="342900" cy="342900"/>
            </a:xfrm>
            <a:prstGeom prst="donut">
              <a:avLst>
                <a:gd name="adj" fmla="val 7542"/>
              </a:avLst>
            </a:prstGeom>
            <a:solidFill>
              <a:srgbClr val="D2D5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noProof="0" dirty="0">
                  <a:solidFill>
                    <a:srgbClr val="D2D5D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9A45189-D42F-0266-82A0-FC9A9240BECE}"/>
                </a:ext>
              </a:extLst>
            </p:cNvPr>
            <p:cNvSpPr txBox="1"/>
            <p:nvPr/>
          </p:nvSpPr>
          <p:spPr>
            <a:xfrm>
              <a:off x="2738579" y="269029"/>
              <a:ext cx="12264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rgbClr val="D2D5D3"/>
                  </a:solidFill>
                </a:rPr>
                <a:t>I</a:t>
              </a:r>
              <a:r>
                <a:rPr lang="fr-FR" sz="1400" b="1" dirty="0" err="1">
                  <a:solidFill>
                    <a:srgbClr val="D2D5D3"/>
                  </a:solidFill>
                </a:rPr>
                <a:t>ntroduction</a:t>
              </a:r>
              <a:endParaRPr lang="fr-FR" sz="1400" b="1" noProof="0" dirty="0">
                <a:solidFill>
                  <a:srgbClr val="D2D5D3"/>
                </a:solidFill>
              </a:endParaRPr>
            </a:p>
          </p:txBody>
        </p:sp>
      </p:grpSp>
      <p:sp>
        <p:nvSpPr>
          <p:cNvPr id="10" name="TextBox 36">
            <a:extLst>
              <a:ext uri="{FF2B5EF4-FFF2-40B4-BE49-F238E27FC236}">
                <a16:creationId xmlns:a16="http://schemas.microsoft.com/office/drawing/2014/main" id="{1C29624F-4014-E65B-95A5-AFE40FB63ABC}"/>
              </a:ext>
            </a:extLst>
          </p:cNvPr>
          <p:cNvSpPr txBox="1"/>
          <p:nvPr/>
        </p:nvSpPr>
        <p:spPr>
          <a:xfrm>
            <a:off x="4020297" y="1907889"/>
            <a:ext cx="178875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800" b="1" dirty="0">
                <a:ea typeface="+mn-lt"/>
                <a:cs typeface="+mn-lt"/>
              </a:rPr>
              <a:t>Client</a:t>
            </a:r>
            <a:endParaRPr lang="fr-FR" dirty="0"/>
          </a:p>
        </p:txBody>
      </p:sp>
      <p:grpSp>
        <p:nvGrpSpPr>
          <p:cNvPr id="15" name="Group 72">
            <a:extLst>
              <a:ext uri="{FF2B5EF4-FFF2-40B4-BE49-F238E27FC236}">
                <a16:creationId xmlns:a16="http://schemas.microsoft.com/office/drawing/2014/main" id="{9DAC7169-C3CC-7855-5F29-B723D28023B9}"/>
              </a:ext>
            </a:extLst>
          </p:cNvPr>
          <p:cNvGrpSpPr/>
          <p:nvPr/>
        </p:nvGrpSpPr>
        <p:grpSpPr>
          <a:xfrm>
            <a:off x="4141205" y="3667222"/>
            <a:ext cx="6259920" cy="461665"/>
            <a:chOff x="4348459" y="2311708"/>
            <a:chExt cx="6027364" cy="461665"/>
          </a:xfrm>
        </p:grpSpPr>
        <p:sp>
          <p:nvSpPr>
            <p:cNvPr id="9" name="Oval 55">
              <a:extLst>
                <a:ext uri="{FF2B5EF4-FFF2-40B4-BE49-F238E27FC236}">
                  <a16:creationId xmlns:a16="http://schemas.microsoft.com/office/drawing/2014/main" id="{DE0A1ECF-5D7D-322B-5440-A45D7E81DD09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TextBox 60">
              <a:extLst>
                <a:ext uri="{FF2B5EF4-FFF2-40B4-BE49-F238E27FC236}">
                  <a16:creationId xmlns:a16="http://schemas.microsoft.com/office/drawing/2014/main" id="{6A32E65F-43E5-4608-6B10-E3820C186FD0}"/>
                </a:ext>
              </a:extLst>
            </p:cNvPr>
            <p:cNvSpPr txBox="1"/>
            <p:nvPr/>
          </p:nvSpPr>
          <p:spPr>
            <a:xfrm>
              <a:off x="4757285" y="2311708"/>
              <a:ext cx="561853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 err="1">
                  <a:ea typeface="+mn-lt"/>
                  <a:cs typeface="+mn-lt"/>
                </a:rPr>
                <a:t>Maintain</a:t>
              </a:r>
              <a:r>
                <a:rPr lang="fr-FR" sz="2400" dirty="0">
                  <a:ea typeface="+mn-lt"/>
                  <a:cs typeface="+mn-lt"/>
                </a:rPr>
                <a:t> a local </a:t>
              </a:r>
              <a:r>
                <a:rPr lang="fr-FR" sz="2400" dirty="0" err="1">
                  <a:ea typeface="+mn-lt"/>
                  <a:cs typeface="+mn-lt"/>
                </a:rPr>
                <a:t>Lamport</a:t>
              </a:r>
              <a:r>
                <a:rPr lang="fr-FR" sz="2400" dirty="0">
                  <a:ea typeface="+mn-lt"/>
                  <a:cs typeface="+mn-lt"/>
                </a:rPr>
                <a:t> </a:t>
              </a:r>
              <a:r>
                <a:rPr lang="fr-FR" sz="2400" dirty="0" err="1">
                  <a:ea typeface="+mn-lt"/>
                  <a:cs typeface="+mn-lt"/>
                </a:rPr>
                <a:t>clock</a:t>
              </a:r>
              <a:endParaRPr lang="fr-FR" dirty="0" err="1"/>
            </a:p>
          </p:txBody>
        </p:sp>
      </p:grpSp>
      <p:grpSp>
        <p:nvGrpSpPr>
          <p:cNvPr id="24" name="Group 72">
            <a:extLst>
              <a:ext uri="{FF2B5EF4-FFF2-40B4-BE49-F238E27FC236}">
                <a16:creationId xmlns:a16="http://schemas.microsoft.com/office/drawing/2014/main" id="{FCC91CC8-45D9-8EC3-6A78-57310702216A}"/>
              </a:ext>
            </a:extLst>
          </p:cNvPr>
          <p:cNvGrpSpPr/>
          <p:nvPr/>
        </p:nvGrpSpPr>
        <p:grpSpPr>
          <a:xfrm>
            <a:off x="4141205" y="2972741"/>
            <a:ext cx="6259920" cy="461665"/>
            <a:chOff x="4348459" y="2311708"/>
            <a:chExt cx="6027364" cy="461665"/>
          </a:xfrm>
        </p:grpSpPr>
        <p:sp>
          <p:nvSpPr>
            <p:cNvPr id="21" name="Oval 55">
              <a:extLst>
                <a:ext uri="{FF2B5EF4-FFF2-40B4-BE49-F238E27FC236}">
                  <a16:creationId xmlns:a16="http://schemas.microsoft.com/office/drawing/2014/main" id="{1FF9D6E6-CF7D-6292-20A5-11A56B52ED2C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TextBox 60">
              <a:extLst>
                <a:ext uri="{FF2B5EF4-FFF2-40B4-BE49-F238E27FC236}">
                  <a16:creationId xmlns:a16="http://schemas.microsoft.com/office/drawing/2014/main" id="{AC8DDDEE-B735-A2C0-154F-F253FCDD4891}"/>
                </a:ext>
              </a:extLst>
            </p:cNvPr>
            <p:cNvSpPr txBox="1"/>
            <p:nvPr/>
          </p:nvSpPr>
          <p:spPr>
            <a:xfrm>
              <a:off x="4757285" y="2311708"/>
              <a:ext cx="561853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 err="1">
                  <a:ea typeface="+mn-lt"/>
                  <a:cs typeface="+mn-lt"/>
                </a:rPr>
                <a:t>Send</a:t>
              </a:r>
              <a:r>
                <a:rPr lang="fr-FR" sz="2400" dirty="0">
                  <a:ea typeface="+mn-lt"/>
                  <a:cs typeface="+mn-lt"/>
                </a:rPr>
                <a:t> and </a:t>
              </a:r>
              <a:r>
                <a:rPr lang="fr-FR" sz="2400" dirty="0" err="1">
                  <a:ea typeface="+mn-lt"/>
                  <a:cs typeface="+mn-lt"/>
                </a:rPr>
                <a:t>receive</a:t>
              </a:r>
              <a:r>
                <a:rPr lang="fr-FR" sz="2400" dirty="0">
                  <a:ea typeface="+mn-lt"/>
                  <a:cs typeface="+mn-lt"/>
                </a:rPr>
                <a:t> messages</a:t>
              </a:r>
              <a:endParaRPr lang="fr-FR" dirty="0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9E36F77D-A508-AD5C-3B7F-661531797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999" y="2825502"/>
            <a:ext cx="784965" cy="76408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F67A094-25D9-09D0-2B38-43ECF02CA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758" y="3105224"/>
            <a:ext cx="505245" cy="47472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9A3A880-36C5-E8A4-B83D-04DFFC970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722" y="3896161"/>
            <a:ext cx="1055041" cy="995581"/>
          </a:xfrm>
          <a:prstGeom prst="rect">
            <a:avLst/>
          </a:prstGeom>
        </p:spPr>
      </p:pic>
      <p:sp>
        <p:nvSpPr>
          <p:cNvPr id="18" name="Circle: Hollow 19">
            <a:extLst>
              <a:ext uri="{FF2B5EF4-FFF2-40B4-BE49-F238E27FC236}">
                <a16:creationId xmlns:a16="http://schemas.microsoft.com/office/drawing/2014/main" id="{9AC9D593-9C83-A696-9B07-FE3DC83DAABB}"/>
              </a:ext>
            </a:extLst>
          </p:cNvPr>
          <p:cNvSpPr/>
          <p:nvPr/>
        </p:nvSpPr>
        <p:spPr>
          <a:xfrm>
            <a:off x="4111974" y="117553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35D712D-DC46-7ED4-736C-EF077BC60957}"/>
              </a:ext>
            </a:extLst>
          </p:cNvPr>
          <p:cNvSpPr txBox="1"/>
          <p:nvPr/>
        </p:nvSpPr>
        <p:spPr>
          <a:xfrm>
            <a:off x="4432640" y="27393"/>
            <a:ext cx="16745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Communication &amp; implementation</a:t>
            </a:r>
            <a:endParaRPr lang="fr-FR" dirty="0"/>
          </a:p>
        </p:txBody>
      </p:sp>
      <p:sp>
        <p:nvSpPr>
          <p:cNvPr id="32" name="Circle: Hollow 22">
            <a:extLst>
              <a:ext uri="{FF2B5EF4-FFF2-40B4-BE49-F238E27FC236}">
                <a16:creationId xmlns:a16="http://schemas.microsoft.com/office/drawing/2014/main" id="{B5E2435A-04C4-946D-DA7C-1920EDF18CB6}"/>
              </a:ext>
            </a:extLst>
          </p:cNvPr>
          <p:cNvSpPr/>
          <p:nvPr/>
        </p:nvSpPr>
        <p:spPr>
          <a:xfrm>
            <a:off x="6466507" y="117553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34" name="TextBox 23">
            <a:extLst>
              <a:ext uri="{FF2B5EF4-FFF2-40B4-BE49-F238E27FC236}">
                <a16:creationId xmlns:a16="http://schemas.microsoft.com/office/drawing/2014/main" id="{C9F22885-760F-EF91-DCC8-41881C13D3DA}"/>
              </a:ext>
            </a:extLst>
          </p:cNvPr>
          <p:cNvSpPr txBox="1"/>
          <p:nvPr/>
        </p:nvSpPr>
        <p:spPr>
          <a:xfrm>
            <a:off x="6809407" y="126176"/>
            <a:ext cx="1442826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Lamport clock</a:t>
            </a:r>
            <a:endParaRPr lang="fr-FR" dirty="0"/>
          </a:p>
        </p:txBody>
      </p:sp>
      <p:sp>
        <p:nvSpPr>
          <p:cNvPr id="36" name="Circle: Hollow 9">
            <a:extLst>
              <a:ext uri="{FF2B5EF4-FFF2-40B4-BE49-F238E27FC236}">
                <a16:creationId xmlns:a16="http://schemas.microsoft.com/office/drawing/2014/main" id="{DC45A243-F088-56A9-54B5-AF06D4F443C1}"/>
              </a:ext>
            </a:extLst>
          </p:cNvPr>
          <p:cNvSpPr/>
          <p:nvPr/>
        </p:nvSpPr>
        <p:spPr>
          <a:xfrm>
            <a:off x="8661019" y="111830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38" name="TextBox 16">
            <a:extLst>
              <a:ext uri="{FF2B5EF4-FFF2-40B4-BE49-F238E27FC236}">
                <a16:creationId xmlns:a16="http://schemas.microsoft.com/office/drawing/2014/main" id="{4F8775AB-D32E-3870-6124-454E6CA67921}"/>
              </a:ext>
            </a:extLst>
          </p:cNvPr>
          <p:cNvSpPr txBox="1"/>
          <p:nvPr/>
        </p:nvSpPr>
        <p:spPr>
          <a:xfrm>
            <a:off x="9003919" y="116531"/>
            <a:ext cx="189616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 err="1">
                <a:solidFill>
                  <a:schemeClr val="bg2">
                    <a:lumMod val="75000"/>
                  </a:schemeClr>
                </a:solidFill>
              </a:rPr>
              <a:t>Results</a:t>
            </a:r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 &amp; Conclusion</a:t>
            </a:r>
            <a:endParaRPr lang="fr-FR" sz="14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0" name="Oval 21">
            <a:extLst>
              <a:ext uri="{FF2B5EF4-FFF2-40B4-BE49-F238E27FC236}">
                <a16:creationId xmlns:a16="http://schemas.microsoft.com/office/drawing/2014/main" id="{64175E37-D51E-230B-98AD-F6C45BBC8411}"/>
              </a:ext>
            </a:extLst>
          </p:cNvPr>
          <p:cNvSpPr/>
          <p:nvPr/>
        </p:nvSpPr>
        <p:spPr>
          <a:xfrm>
            <a:off x="2206182" y="117553"/>
            <a:ext cx="342900" cy="342901"/>
          </a:xfrm>
          <a:prstGeom prst="ellipse">
            <a:avLst/>
          </a:prstGeom>
          <a:solidFill>
            <a:srgbClr val="1279C5"/>
          </a:solidFill>
          <a:ln>
            <a:solidFill>
              <a:srgbClr val="7C9ED7"/>
            </a:solidFill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Circle: Hollow 11">
            <a:extLst>
              <a:ext uri="{FF2B5EF4-FFF2-40B4-BE49-F238E27FC236}">
                <a16:creationId xmlns:a16="http://schemas.microsoft.com/office/drawing/2014/main" id="{41BB9113-FD4D-358C-4BA2-67741E9A11FF}"/>
              </a:ext>
            </a:extLst>
          </p:cNvPr>
          <p:cNvSpPr/>
          <p:nvPr/>
        </p:nvSpPr>
        <p:spPr>
          <a:xfrm>
            <a:off x="2206182" y="111654"/>
            <a:ext cx="342900" cy="342900"/>
          </a:xfrm>
          <a:prstGeom prst="donut">
            <a:avLst>
              <a:gd name="adj" fmla="val 7542"/>
            </a:avLst>
          </a:prstGeom>
          <a:solidFill>
            <a:srgbClr val="F0F5F3"/>
          </a:solidFill>
          <a:ln>
            <a:solidFill>
              <a:srgbClr val="7C9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44" name="TextBox 16">
            <a:extLst>
              <a:ext uri="{FF2B5EF4-FFF2-40B4-BE49-F238E27FC236}">
                <a16:creationId xmlns:a16="http://schemas.microsoft.com/office/drawing/2014/main" id="{5CF58C3D-F223-0857-34E7-252F80162031}"/>
              </a:ext>
            </a:extLst>
          </p:cNvPr>
          <p:cNvSpPr txBox="1"/>
          <p:nvPr/>
        </p:nvSpPr>
        <p:spPr>
          <a:xfrm>
            <a:off x="2526643" y="33293"/>
            <a:ext cx="1295849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>
                <a:solidFill>
                  <a:srgbClr val="1279C5"/>
                </a:solidFill>
              </a:rPr>
              <a:t>Sys. </a:t>
            </a:r>
            <a:r>
              <a:rPr lang="fr-FR" sz="1400" dirty="0" err="1">
                <a:solidFill>
                  <a:srgbClr val="1279C5"/>
                </a:solidFill>
              </a:rPr>
              <a:t>Overview</a:t>
            </a:r>
            <a:r>
              <a:rPr lang="fr-FR" sz="1400" dirty="0">
                <a:solidFill>
                  <a:srgbClr val="1279C5"/>
                </a:solidFill>
              </a:rPr>
              <a:t>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939694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F3C0C0-6BFD-000B-8FA5-713AA1D12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D8F75FF5-B75D-94A4-8694-4EF0B0B7539D}"/>
              </a:ext>
            </a:extLst>
          </p:cNvPr>
          <p:cNvSpPr/>
          <p:nvPr/>
        </p:nvSpPr>
        <p:spPr>
          <a:xfrm>
            <a:off x="850334" y="1432754"/>
            <a:ext cx="10227302" cy="4644180"/>
          </a:xfrm>
          <a:prstGeom prst="roundRect">
            <a:avLst>
              <a:gd name="adj" fmla="val 6886"/>
            </a:avLst>
          </a:prstGeom>
          <a:solidFill>
            <a:srgbClr val="F0F5F3"/>
          </a:solidFill>
          <a:ln>
            <a:noFill/>
          </a:ln>
          <a:effectLst>
            <a:outerShdw blurRad="711200" sx="105000" sy="105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r-FR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1C57DE-B946-A475-C11C-A8B8BE1EC5F9}"/>
              </a:ext>
            </a:extLst>
          </p:cNvPr>
          <p:cNvSpPr/>
          <p:nvPr/>
        </p:nvSpPr>
        <p:spPr>
          <a:xfrm>
            <a:off x="381090" y="5477379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2ED23A-9605-7205-FC46-F382B5CB0F81}"/>
              </a:ext>
            </a:extLst>
          </p:cNvPr>
          <p:cNvSpPr txBox="1"/>
          <p:nvPr/>
        </p:nvSpPr>
        <p:spPr>
          <a:xfrm>
            <a:off x="11663867" y="6403462"/>
            <a:ext cx="52813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11</a:t>
            </a:r>
            <a:endParaRPr lang="fr-FR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7463DCC-3992-DD61-825C-F56F9B95CF47}"/>
              </a:ext>
            </a:extLst>
          </p:cNvPr>
          <p:cNvGrpSpPr/>
          <p:nvPr/>
        </p:nvGrpSpPr>
        <p:grpSpPr>
          <a:xfrm>
            <a:off x="395683" y="108614"/>
            <a:ext cx="1563491" cy="342902"/>
            <a:chOff x="2401581" y="269029"/>
            <a:chExt cx="1563491" cy="342902"/>
          </a:xfrm>
        </p:grpSpPr>
        <p:sp>
          <p:nvSpPr>
            <p:cNvPr id="28" name="Circle: Hollow 27">
              <a:extLst>
                <a:ext uri="{FF2B5EF4-FFF2-40B4-BE49-F238E27FC236}">
                  <a16:creationId xmlns:a16="http://schemas.microsoft.com/office/drawing/2014/main" id="{2C490A81-9730-30EF-1F4A-E4775784D444}"/>
                </a:ext>
              </a:extLst>
            </p:cNvPr>
            <p:cNvSpPr/>
            <p:nvPr/>
          </p:nvSpPr>
          <p:spPr>
            <a:xfrm>
              <a:off x="2401581" y="269031"/>
              <a:ext cx="342900" cy="342900"/>
            </a:xfrm>
            <a:prstGeom prst="donut">
              <a:avLst>
                <a:gd name="adj" fmla="val 7542"/>
              </a:avLst>
            </a:prstGeom>
            <a:solidFill>
              <a:srgbClr val="D2D5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noProof="0" dirty="0">
                  <a:solidFill>
                    <a:srgbClr val="D2D5D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30E682A-5CA5-E718-6FDF-40A11E0B226A}"/>
                </a:ext>
              </a:extLst>
            </p:cNvPr>
            <p:cNvSpPr txBox="1"/>
            <p:nvPr/>
          </p:nvSpPr>
          <p:spPr>
            <a:xfrm>
              <a:off x="2738579" y="269029"/>
              <a:ext cx="12264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rgbClr val="D2D5D3"/>
                  </a:solidFill>
                </a:rPr>
                <a:t>I</a:t>
              </a:r>
              <a:r>
                <a:rPr lang="fr-FR" sz="1400" b="1" dirty="0" err="1">
                  <a:solidFill>
                    <a:srgbClr val="D2D5D3"/>
                  </a:solidFill>
                </a:rPr>
                <a:t>ntroduction</a:t>
              </a:r>
              <a:endParaRPr lang="fr-FR" sz="1400" b="1" noProof="0" dirty="0">
                <a:solidFill>
                  <a:srgbClr val="D2D5D3"/>
                </a:solidFill>
              </a:endParaRPr>
            </a:p>
          </p:txBody>
        </p:sp>
      </p:grpSp>
      <p:pic>
        <p:nvPicPr>
          <p:cNvPr id="2" name="Image 1" descr="Une image contenant capture d’écran, Caractère coloré, Graphique, ligne&#10;&#10;Le contenu généré par l’IA peut être incorrect.">
            <a:extLst>
              <a:ext uri="{FF2B5EF4-FFF2-40B4-BE49-F238E27FC236}">
                <a16:creationId xmlns:a16="http://schemas.microsoft.com/office/drawing/2014/main" id="{B417D3DE-CA6F-766F-B323-A6408A552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641" y="3172215"/>
            <a:ext cx="1087679" cy="117118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C3861D2-E67A-FA7C-D492-BD79B4BB6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586" y="3172215"/>
            <a:ext cx="1233813" cy="1150305"/>
          </a:xfrm>
          <a:prstGeom prst="rect">
            <a:avLst/>
          </a:prstGeom>
        </p:spPr>
      </p:pic>
      <p:sp>
        <p:nvSpPr>
          <p:cNvPr id="10" name="TextBox 36">
            <a:extLst>
              <a:ext uri="{FF2B5EF4-FFF2-40B4-BE49-F238E27FC236}">
                <a16:creationId xmlns:a16="http://schemas.microsoft.com/office/drawing/2014/main" id="{A7F55FE5-6ED5-8952-431E-07C4E5F523A4}"/>
              </a:ext>
            </a:extLst>
          </p:cNvPr>
          <p:cNvSpPr txBox="1"/>
          <p:nvPr/>
        </p:nvSpPr>
        <p:spPr>
          <a:xfrm>
            <a:off x="4312175" y="1865343"/>
            <a:ext cx="564051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800" b="1" dirty="0">
                <a:ea typeface="+mn-lt"/>
                <a:cs typeface="+mn-lt"/>
              </a:rPr>
              <a:t>Communication</a:t>
            </a:r>
            <a:endParaRPr lang="fr-FR" dirty="0"/>
          </a:p>
        </p:txBody>
      </p: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7CDEE37E-4A06-5792-DFDE-C1C6784ED06F}"/>
              </a:ext>
            </a:extLst>
          </p:cNvPr>
          <p:cNvCxnSpPr/>
          <p:nvPr/>
        </p:nvCxnSpPr>
        <p:spPr>
          <a:xfrm>
            <a:off x="3964877" y="3743157"/>
            <a:ext cx="4017046" cy="13047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36">
            <a:extLst>
              <a:ext uri="{FF2B5EF4-FFF2-40B4-BE49-F238E27FC236}">
                <a16:creationId xmlns:a16="http://schemas.microsoft.com/office/drawing/2014/main" id="{B4A2AB43-C443-2B6D-9ED8-0D430D6FCEBD}"/>
              </a:ext>
            </a:extLst>
          </p:cNvPr>
          <p:cNvSpPr txBox="1"/>
          <p:nvPr/>
        </p:nvSpPr>
        <p:spPr>
          <a:xfrm>
            <a:off x="4155996" y="3223122"/>
            <a:ext cx="401212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800" b="1" dirty="0">
                <a:ea typeface="+mn-lt"/>
                <a:cs typeface="+mn-lt"/>
              </a:rPr>
              <a:t>TCP/IP socket-</a:t>
            </a:r>
            <a:r>
              <a:rPr lang="fr-FR" sz="2800" b="1" dirty="0" err="1">
                <a:ea typeface="+mn-lt"/>
                <a:cs typeface="+mn-lt"/>
              </a:rPr>
              <a:t>based</a:t>
            </a:r>
            <a:endParaRPr lang="fr-FR" dirty="0" err="1"/>
          </a:p>
        </p:txBody>
      </p:sp>
      <p:sp>
        <p:nvSpPr>
          <p:cNvPr id="15" name="TextBox 36">
            <a:extLst>
              <a:ext uri="{FF2B5EF4-FFF2-40B4-BE49-F238E27FC236}">
                <a16:creationId xmlns:a16="http://schemas.microsoft.com/office/drawing/2014/main" id="{315EA8F8-8089-1FFB-EA79-7FCEA081487A}"/>
              </a:ext>
            </a:extLst>
          </p:cNvPr>
          <p:cNvSpPr txBox="1"/>
          <p:nvPr/>
        </p:nvSpPr>
        <p:spPr>
          <a:xfrm>
            <a:off x="4155996" y="3807669"/>
            <a:ext cx="401212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err="1">
                <a:ea typeface="+mn-lt"/>
                <a:cs typeface="+mn-lt"/>
              </a:rPr>
              <a:t>Text-based</a:t>
            </a:r>
            <a:r>
              <a:rPr lang="fr-FR" sz="2000" b="1" dirty="0">
                <a:ea typeface="+mn-lt"/>
                <a:cs typeface="+mn-lt"/>
              </a:rPr>
              <a:t> message </a:t>
            </a:r>
            <a:r>
              <a:rPr lang="fr-FR" sz="2000" b="1" err="1">
                <a:ea typeface="+mn-lt"/>
                <a:cs typeface="+mn-lt"/>
              </a:rPr>
              <a:t>protocol</a:t>
            </a:r>
            <a:endParaRPr lang="fr-FR" sz="2000" err="1"/>
          </a:p>
        </p:txBody>
      </p:sp>
      <p:sp>
        <p:nvSpPr>
          <p:cNvPr id="21" name="Circle: Hollow 19">
            <a:extLst>
              <a:ext uri="{FF2B5EF4-FFF2-40B4-BE49-F238E27FC236}">
                <a16:creationId xmlns:a16="http://schemas.microsoft.com/office/drawing/2014/main" id="{B59924F3-6D46-FD2E-5EE1-F27E22BBC4D9}"/>
              </a:ext>
            </a:extLst>
          </p:cNvPr>
          <p:cNvSpPr/>
          <p:nvPr/>
        </p:nvSpPr>
        <p:spPr>
          <a:xfrm>
            <a:off x="4111974" y="117553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CB39E8D6-E8FA-833A-DD25-1F36FCEC9D50}"/>
              </a:ext>
            </a:extLst>
          </p:cNvPr>
          <p:cNvSpPr txBox="1"/>
          <p:nvPr/>
        </p:nvSpPr>
        <p:spPr>
          <a:xfrm>
            <a:off x="4432640" y="27393"/>
            <a:ext cx="16745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Communication &amp; implementation</a:t>
            </a:r>
            <a:endParaRPr lang="fr-FR" dirty="0"/>
          </a:p>
        </p:txBody>
      </p:sp>
      <p:sp>
        <p:nvSpPr>
          <p:cNvPr id="26" name="Circle: Hollow 22">
            <a:extLst>
              <a:ext uri="{FF2B5EF4-FFF2-40B4-BE49-F238E27FC236}">
                <a16:creationId xmlns:a16="http://schemas.microsoft.com/office/drawing/2014/main" id="{AA6B5CEA-8A9A-D85D-9EB9-D50081A67594}"/>
              </a:ext>
            </a:extLst>
          </p:cNvPr>
          <p:cNvSpPr/>
          <p:nvPr/>
        </p:nvSpPr>
        <p:spPr>
          <a:xfrm>
            <a:off x="6466507" y="117553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31" name="TextBox 23">
            <a:extLst>
              <a:ext uri="{FF2B5EF4-FFF2-40B4-BE49-F238E27FC236}">
                <a16:creationId xmlns:a16="http://schemas.microsoft.com/office/drawing/2014/main" id="{78EB5E0A-72E9-85CE-FEFF-5259E9CCAB27}"/>
              </a:ext>
            </a:extLst>
          </p:cNvPr>
          <p:cNvSpPr txBox="1"/>
          <p:nvPr/>
        </p:nvSpPr>
        <p:spPr>
          <a:xfrm>
            <a:off x="6809407" y="126176"/>
            <a:ext cx="1442826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Lamport clock</a:t>
            </a:r>
            <a:endParaRPr lang="fr-FR" dirty="0"/>
          </a:p>
        </p:txBody>
      </p:sp>
      <p:sp>
        <p:nvSpPr>
          <p:cNvPr id="33" name="Circle: Hollow 9">
            <a:extLst>
              <a:ext uri="{FF2B5EF4-FFF2-40B4-BE49-F238E27FC236}">
                <a16:creationId xmlns:a16="http://schemas.microsoft.com/office/drawing/2014/main" id="{B66EA933-1A01-4F91-A43C-0D62F5AF58A3}"/>
              </a:ext>
            </a:extLst>
          </p:cNvPr>
          <p:cNvSpPr/>
          <p:nvPr/>
        </p:nvSpPr>
        <p:spPr>
          <a:xfrm>
            <a:off x="8661019" y="111830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35" name="TextBox 16">
            <a:extLst>
              <a:ext uri="{FF2B5EF4-FFF2-40B4-BE49-F238E27FC236}">
                <a16:creationId xmlns:a16="http://schemas.microsoft.com/office/drawing/2014/main" id="{B103D7C5-04C2-468A-7066-0C40599556DA}"/>
              </a:ext>
            </a:extLst>
          </p:cNvPr>
          <p:cNvSpPr txBox="1"/>
          <p:nvPr/>
        </p:nvSpPr>
        <p:spPr>
          <a:xfrm>
            <a:off x="9003919" y="116531"/>
            <a:ext cx="189616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 err="1">
                <a:solidFill>
                  <a:schemeClr val="bg2">
                    <a:lumMod val="75000"/>
                  </a:schemeClr>
                </a:solidFill>
              </a:rPr>
              <a:t>Results</a:t>
            </a:r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 &amp; Conclusion</a:t>
            </a:r>
            <a:endParaRPr lang="fr-FR" sz="14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7" name="Oval 21">
            <a:extLst>
              <a:ext uri="{FF2B5EF4-FFF2-40B4-BE49-F238E27FC236}">
                <a16:creationId xmlns:a16="http://schemas.microsoft.com/office/drawing/2014/main" id="{BD687DD3-0646-FEB9-3112-65E4235B4F87}"/>
              </a:ext>
            </a:extLst>
          </p:cNvPr>
          <p:cNvSpPr/>
          <p:nvPr/>
        </p:nvSpPr>
        <p:spPr>
          <a:xfrm>
            <a:off x="2206182" y="117553"/>
            <a:ext cx="342900" cy="342901"/>
          </a:xfrm>
          <a:prstGeom prst="ellipse">
            <a:avLst/>
          </a:prstGeom>
          <a:solidFill>
            <a:srgbClr val="1279C5"/>
          </a:solidFill>
          <a:ln>
            <a:solidFill>
              <a:srgbClr val="7C9ED7"/>
            </a:solidFill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Circle: Hollow 11">
            <a:extLst>
              <a:ext uri="{FF2B5EF4-FFF2-40B4-BE49-F238E27FC236}">
                <a16:creationId xmlns:a16="http://schemas.microsoft.com/office/drawing/2014/main" id="{DAC8214D-AEB9-D56F-C9D2-B0809B03450E}"/>
              </a:ext>
            </a:extLst>
          </p:cNvPr>
          <p:cNvSpPr/>
          <p:nvPr/>
        </p:nvSpPr>
        <p:spPr>
          <a:xfrm>
            <a:off x="2206182" y="111654"/>
            <a:ext cx="342900" cy="342900"/>
          </a:xfrm>
          <a:prstGeom prst="donut">
            <a:avLst>
              <a:gd name="adj" fmla="val 7542"/>
            </a:avLst>
          </a:prstGeom>
          <a:solidFill>
            <a:srgbClr val="F0F5F3"/>
          </a:solidFill>
          <a:ln>
            <a:solidFill>
              <a:srgbClr val="7C9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9D442907-BD45-CCB1-45A0-0F9EB67C65ED}"/>
              </a:ext>
            </a:extLst>
          </p:cNvPr>
          <p:cNvSpPr txBox="1"/>
          <p:nvPr/>
        </p:nvSpPr>
        <p:spPr>
          <a:xfrm>
            <a:off x="2526643" y="33293"/>
            <a:ext cx="1295849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>
                <a:solidFill>
                  <a:srgbClr val="1279C5"/>
                </a:solidFill>
              </a:rPr>
              <a:t>Sys. </a:t>
            </a:r>
            <a:r>
              <a:rPr lang="fr-FR" sz="1400" dirty="0" err="1">
                <a:solidFill>
                  <a:srgbClr val="1279C5"/>
                </a:solidFill>
              </a:rPr>
              <a:t>Overview</a:t>
            </a:r>
            <a:r>
              <a:rPr lang="fr-FR" sz="1400" dirty="0">
                <a:solidFill>
                  <a:srgbClr val="1279C5"/>
                </a:solidFill>
              </a:rPr>
              <a:t>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81399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B8004-5169-8106-97C5-B6EAD982D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D2C03A87-321A-EF10-E2D7-5464FBE75437}"/>
              </a:ext>
            </a:extLst>
          </p:cNvPr>
          <p:cNvGrpSpPr/>
          <p:nvPr/>
        </p:nvGrpSpPr>
        <p:grpSpPr>
          <a:xfrm>
            <a:off x="2052902" y="2603906"/>
            <a:ext cx="9017510" cy="1013871"/>
            <a:chOff x="2052902" y="2603906"/>
            <a:chExt cx="9017510" cy="101387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2CA1753-9A64-D9ED-7195-31255B7693CA}"/>
                </a:ext>
              </a:extLst>
            </p:cNvPr>
            <p:cNvSpPr/>
            <p:nvPr/>
          </p:nvSpPr>
          <p:spPr>
            <a:xfrm>
              <a:off x="2052902" y="2603906"/>
              <a:ext cx="997692" cy="1013871"/>
            </a:xfrm>
            <a:prstGeom prst="ellipse">
              <a:avLst/>
            </a:prstGeom>
            <a:solidFill>
              <a:srgbClr val="F0F5F3"/>
            </a:solidFill>
            <a:ln w="34925">
              <a:solidFill>
                <a:srgbClr val="7C9ED7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4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  <a:endParaRPr lang="fr-FR" sz="8800" b="1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A3C1CE7-717C-9685-E630-9E7BD1607B34}"/>
                </a:ext>
              </a:extLst>
            </p:cNvPr>
            <p:cNvSpPr txBox="1"/>
            <p:nvPr/>
          </p:nvSpPr>
          <p:spPr>
            <a:xfrm>
              <a:off x="3374263" y="2764704"/>
              <a:ext cx="7696149" cy="5847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fr-FR" sz="3200" b="1" dirty="0">
                  <a:latin typeface="Segoe UI"/>
                  <a:cs typeface="Segoe UI"/>
                </a:rPr>
                <a:t>Communication &amp; </a:t>
              </a:r>
              <a:r>
                <a:rPr lang="fr-FR" sz="3200" b="1" err="1">
                  <a:latin typeface="Segoe UI"/>
                  <a:cs typeface="Segoe UI"/>
                </a:rPr>
                <a:t>Implementation</a:t>
              </a:r>
              <a:endParaRPr lang="fr-FR" sz="3200" b="1">
                <a:latin typeface="Segoe UI"/>
                <a:cs typeface="Segoe UI"/>
              </a:endParaRP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AF165CE8-94FB-BCE7-3B74-56B3D82D41FF}"/>
              </a:ext>
            </a:extLst>
          </p:cNvPr>
          <p:cNvSpPr/>
          <p:nvPr/>
        </p:nvSpPr>
        <p:spPr>
          <a:xfrm>
            <a:off x="-1838192" y="244529"/>
            <a:ext cx="2657476" cy="2628900"/>
          </a:xfrm>
          <a:prstGeom prst="ellipse">
            <a:avLst/>
          </a:prstGeom>
          <a:solidFill>
            <a:srgbClr val="1279C5"/>
          </a:solidFill>
          <a:ln>
            <a:noFill/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C99658-8BE4-76DA-37B7-255C4F19300A}"/>
              </a:ext>
            </a:extLst>
          </p:cNvPr>
          <p:cNvSpPr txBox="1"/>
          <p:nvPr/>
        </p:nvSpPr>
        <p:spPr>
          <a:xfrm>
            <a:off x="11691902" y="6457890"/>
            <a:ext cx="50009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12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0724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889EF9-C4AF-AD33-9495-630183A11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Oval 21">
            <a:extLst>
              <a:ext uri="{FF2B5EF4-FFF2-40B4-BE49-F238E27FC236}">
                <a16:creationId xmlns:a16="http://schemas.microsoft.com/office/drawing/2014/main" id="{9E48BAA0-E126-651E-B5D7-0FFAE66A8521}"/>
              </a:ext>
            </a:extLst>
          </p:cNvPr>
          <p:cNvSpPr/>
          <p:nvPr/>
        </p:nvSpPr>
        <p:spPr>
          <a:xfrm>
            <a:off x="4116005" y="117553"/>
            <a:ext cx="342900" cy="342901"/>
          </a:xfrm>
          <a:prstGeom prst="ellipse">
            <a:avLst/>
          </a:prstGeom>
          <a:solidFill>
            <a:srgbClr val="1279C5"/>
          </a:solidFill>
          <a:ln>
            <a:solidFill>
              <a:srgbClr val="7C9ED7"/>
            </a:solidFill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1FAED917-0375-855A-2E95-82E6A3FAC074}"/>
              </a:ext>
            </a:extLst>
          </p:cNvPr>
          <p:cNvSpPr/>
          <p:nvPr/>
        </p:nvSpPr>
        <p:spPr>
          <a:xfrm>
            <a:off x="850334" y="1432754"/>
            <a:ext cx="10227302" cy="4644180"/>
          </a:xfrm>
          <a:prstGeom prst="roundRect">
            <a:avLst>
              <a:gd name="adj" fmla="val 6886"/>
            </a:avLst>
          </a:prstGeom>
          <a:solidFill>
            <a:srgbClr val="F0F5F3"/>
          </a:solidFill>
          <a:ln>
            <a:noFill/>
          </a:ln>
          <a:effectLst>
            <a:outerShdw blurRad="711200" sx="105000" sy="105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0E366B9-6D5D-458E-AA98-816522DE01EA}"/>
              </a:ext>
            </a:extLst>
          </p:cNvPr>
          <p:cNvSpPr/>
          <p:nvPr/>
        </p:nvSpPr>
        <p:spPr>
          <a:xfrm>
            <a:off x="854356" y="5489178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E8A559-784D-5DFB-1F94-473B0295F713}"/>
              </a:ext>
            </a:extLst>
          </p:cNvPr>
          <p:cNvSpPr txBox="1"/>
          <p:nvPr/>
        </p:nvSpPr>
        <p:spPr>
          <a:xfrm>
            <a:off x="11696524" y="6414348"/>
            <a:ext cx="4954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13</a:t>
            </a:r>
            <a:endParaRPr lang="fr-FR" sz="2000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0AFB9DE-925D-DF74-010E-9988F145F7CB}"/>
              </a:ext>
            </a:extLst>
          </p:cNvPr>
          <p:cNvGrpSpPr/>
          <p:nvPr/>
        </p:nvGrpSpPr>
        <p:grpSpPr>
          <a:xfrm>
            <a:off x="1979005" y="2648096"/>
            <a:ext cx="4328815" cy="461665"/>
            <a:chOff x="4348459" y="2311708"/>
            <a:chExt cx="4328815" cy="461665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C3D4BC5-6CBC-B888-D723-344576A10666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6255860-9E70-66CD-760E-105A5599A017}"/>
                </a:ext>
              </a:extLst>
            </p:cNvPr>
            <p:cNvSpPr txBox="1"/>
            <p:nvPr/>
          </p:nvSpPr>
          <p:spPr>
            <a:xfrm>
              <a:off x="4757285" y="2311708"/>
              <a:ext cx="391998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 err="1">
                  <a:ea typeface="+mn-lt"/>
                  <a:cs typeface="+mn-lt"/>
                </a:rPr>
                <a:t>Private</a:t>
              </a:r>
              <a:r>
                <a:rPr lang="fr-FR" sz="2400" dirty="0">
                  <a:ea typeface="+mn-lt"/>
                  <a:cs typeface="+mn-lt"/>
                </a:rPr>
                <a:t> messages</a:t>
              </a:r>
              <a:endParaRPr lang="fr-FR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A69D81D-F748-4B12-7F59-2AD56EEA00C0}"/>
              </a:ext>
            </a:extLst>
          </p:cNvPr>
          <p:cNvGrpSpPr/>
          <p:nvPr/>
        </p:nvGrpSpPr>
        <p:grpSpPr>
          <a:xfrm>
            <a:off x="1998296" y="3290553"/>
            <a:ext cx="6009434" cy="461665"/>
            <a:chOff x="4348459" y="2900383"/>
            <a:chExt cx="6113039" cy="461665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F2EDBC3-B2D6-2874-8118-9AD953866061}"/>
                </a:ext>
              </a:extLst>
            </p:cNvPr>
            <p:cNvSpPr/>
            <p:nvPr/>
          </p:nvSpPr>
          <p:spPr>
            <a:xfrm>
              <a:off x="4348459" y="300527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2CD024E-D7F2-93D0-0B4C-022927B70E6A}"/>
                </a:ext>
              </a:extLst>
            </p:cNvPr>
            <p:cNvSpPr txBox="1"/>
            <p:nvPr/>
          </p:nvSpPr>
          <p:spPr>
            <a:xfrm>
              <a:off x="4743784" y="2900383"/>
              <a:ext cx="5717714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>
                  <a:ea typeface="+mn-lt"/>
                  <a:cs typeface="+mn-lt"/>
                </a:rPr>
                <a:t>System messages (user </a:t>
              </a:r>
              <a:r>
                <a:rPr lang="fr-FR" sz="2400" dirty="0" err="1">
                  <a:ea typeface="+mn-lt"/>
                  <a:cs typeface="+mn-lt"/>
                </a:rPr>
                <a:t>list</a:t>
              </a:r>
              <a:r>
                <a:rPr lang="fr-FR" sz="2400" dirty="0">
                  <a:ea typeface="+mn-lt"/>
                  <a:cs typeface="+mn-lt"/>
                </a:rPr>
                <a:t> updates)</a:t>
              </a:r>
              <a:endParaRPr lang="fr-FR" dirty="0"/>
            </a:p>
          </p:txBody>
        </p:sp>
      </p:grpSp>
      <p:sp>
        <p:nvSpPr>
          <p:cNvPr id="3" name="TextBox 36">
            <a:extLst>
              <a:ext uri="{FF2B5EF4-FFF2-40B4-BE49-F238E27FC236}">
                <a16:creationId xmlns:a16="http://schemas.microsoft.com/office/drawing/2014/main" id="{DEAE9839-BFC8-D665-ADCD-0A870EFB696E}"/>
              </a:ext>
            </a:extLst>
          </p:cNvPr>
          <p:cNvSpPr txBox="1"/>
          <p:nvPr/>
        </p:nvSpPr>
        <p:spPr>
          <a:xfrm>
            <a:off x="1563189" y="1826761"/>
            <a:ext cx="73477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800" dirty="0">
                <a:ea typeface="+mn-lt"/>
                <a:cs typeface="+mn-lt"/>
              </a:rPr>
              <a:t>Communication </a:t>
            </a:r>
            <a:r>
              <a:rPr lang="fr-FR" sz="2800" dirty="0" err="1">
                <a:ea typeface="+mn-lt"/>
                <a:cs typeface="+mn-lt"/>
              </a:rPr>
              <a:t>based</a:t>
            </a:r>
            <a:r>
              <a:rPr lang="fr-FR" sz="2800" dirty="0">
                <a:ea typeface="+mn-lt"/>
                <a:cs typeface="+mn-lt"/>
              </a:rPr>
              <a:t> on </a:t>
            </a:r>
            <a:r>
              <a:rPr lang="fr-FR" sz="2800" b="1" dirty="0">
                <a:ea typeface="+mn-lt"/>
                <a:cs typeface="+mn-lt"/>
              </a:rPr>
              <a:t>TCP sockets</a:t>
            </a:r>
            <a:endParaRPr lang="fr-FR" dirty="0"/>
          </a:p>
        </p:txBody>
      </p:sp>
      <p:grpSp>
        <p:nvGrpSpPr>
          <p:cNvPr id="107" name="Groupe 106">
            <a:extLst>
              <a:ext uri="{FF2B5EF4-FFF2-40B4-BE49-F238E27FC236}">
                <a16:creationId xmlns:a16="http://schemas.microsoft.com/office/drawing/2014/main" id="{DA30CBA9-CCFC-9D96-F7D9-CBD2D30AB089}"/>
              </a:ext>
            </a:extLst>
          </p:cNvPr>
          <p:cNvGrpSpPr/>
          <p:nvPr/>
        </p:nvGrpSpPr>
        <p:grpSpPr>
          <a:xfrm>
            <a:off x="1979270" y="4173339"/>
            <a:ext cx="7092749" cy="491809"/>
            <a:chOff x="1979270" y="4173339"/>
            <a:chExt cx="7092749" cy="491809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5EB6C1E9-1F9F-829E-9FF8-F52355915D3A}"/>
                </a:ext>
              </a:extLst>
            </p:cNvPr>
            <p:cNvSpPr/>
            <p:nvPr/>
          </p:nvSpPr>
          <p:spPr>
            <a:xfrm>
              <a:off x="2661803" y="4173339"/>
              <a:ext cx="6410216" cy="491809"/>
            </a:xfrm>
            <a:prstGeom prst="roundRect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ea typeface="+mn-lt"/>
                  <a:cs typeface="+mn-lt"/>
                </a:rPr>
                <a:t>PRIVATE:&lt;</a:t>
              </a:r>
              <a:r>
                <a:rPr lang="fr-FR" dirty="0" err="1">
                  <a:ea typeface="+mn-lt"/>
                  <a:cs typeface="+mn-lt"/>
                </a:rPr>
                <a:t>sender</a:t>
              </a:r>
              <a:r>
                <a:rPr lang="fr-FR" dirty="0">
                  <a:ea typeface="+mn-lt"/>
                  <a:cs typeface="+mn-lt"/>
                </a:rPr>
                <a:t>&gt;:&lt;</a:t>
              </a:r>
              <a:r>
                <a:rPr lang="fr-FR" dirty="0" err="1">
                  <a:ea typeface="+mn-lt"/>
                  <a:cs typeface="+mn-lt"/>
                </a:rPr>
                <a:t>receiver</a:t>
              </a:r>
              <a:r>
                <a:rPr lang="fr-FR" dirty="0">
                  <a:ea typeface="+mn-lt"/>
                  <a:cs typeface="+mn-lt"/>
                </a:rPr>
                <a:t>&gt;:&lt;message&gt;:&lt;</a:t>
              </a:r>
              <a:r>
                <a:rPr lang="fr-FR" dirty="0" err="1">
                  <a:ea typeface="+mn-lt"/>
                  <a:cs typeface="+mn-lt"/>
                </a:rPr>
                <a:t>lamportClock</a:t>
              </a:r>
              <a:r>
                <a:rPr lang="fr-FR" dirty="0">
                  <a:ea typeface="+mn-lt"/>
                  <a:cs typeface="+mn-lt"/>
                </a:rPr>
                <a:t>&gt;</a:t>
              </a:r>
              <a:endParaRPr lang="fr-FR" dirty="0"/>
            </a:p>
          </p:txBody>
        </p:sp>
        <p:pic>
          <p:nvPicPr>
            <p:cNvPr id="6" name="Image 5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BE9BABA0-1E86-2271-EEFD-E7BC1E549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270" y="4173637"/>
              <a:ext cx="459131" cy="478421"/>
            </a:xfrm>
            <a:prstGeom prst="rect">
              <a:avLst/>
            </a:prstGeom>
          </p:spPr>
        </p:pic>
      </p:grpSp>
      <p:grpSp>
        <p:nvGrpSpPr>
          <p:cNvPr id="87" name="Group 26">
            <a:extLst>
              <a:ext uri="{FF2B5EF4-FFF2-40B4-BE49-F238E27FC236}">
                <a16:creationId xmlns:a16="http://schemas.microsoft.com/office/drawing/2014/main" id="{836969DC-FF63-3655-6C79-D596E317941C}"/>
              </a:ext>
            </a:extLst>
          </p:cNvPr>
          <p:cNvGrpSpPr/>
          <p:nvPr/>
        </p:nvGrpSpPr>
        <p:grpSpPr>
          <a:xfrm>
            <a:off x="395683" y="108614"/>
            <a:ext cx="1563491" cy="342902"/>
            <a:chOff x="2401581" y="269029"/>
            <a:chExt cx="1563491" cy="342902"/>
          </a:xfrm>
        </p:grpSpPr>
        <p:sp>
          <p:nvSpPr>
            <p:cNvPr id="85" name="Circle: Hollow 27">
              <a:extLst>
                <a:ext uri="{FF2B5EF4-FFF2-40B4-BE49-F238E27FC236}">
                  <a16:creationId xmlns:a16="http://schemas.microsoft.com/office/drawing/2014/main" id="{260E2E57-D1AF-8AEE-2857-A297E24A0535}"/>
                </a:ext>
              </a:extLst>
            </p:cNvPr>
            <p:cNvSpPr/>
            <p:nvPr/>
          </p:nvSpPr>
          <p:spPr>
            <a:xfrm>
              <a:off x="2401581" y="269031"/>
              <a:ext cx="342900" cy="342900"/>
            </a:xfrm>
            <a:prstGeom prst="donut">
              <a:avLst>
                <a:gd name="adj" fmla="val 7542"/>
              </a:avLst>
            </a:prstGeom>
            <a:solidFill>
              <a:srgbClr val="D2D5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noProof="0" dirty="0">
                  <a:solidFill>
                    <a:srgbClr val="D2D5D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86" name="TextBox 28">
              <a:extLst>
                <a:ext uri="{FF2B5EF4-FFF2-40B4-BE49-F238E27FC236}">
                  <a16:creationId xmlns:a16="http://schemas.microsoft.com/office/drawing/2014/main" id="{8E5B53B1-E441-22C1-406A-3418BF164568}"/>
                </a:ext>
              </a:extLst>
            </p:cNvPr>
            <p:cNvSpPr txBox="1"/>
            <p:nvPr/>
          </p:nvSpPr>
          <p:spPr>
            <a:xfrm>
              <a:off x="2738579" y="269029"/>
              <a:ext cx="12264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rgbClr val="D2D5D3"/>
                  </a:solidFill>
                </a:rPr>
                <a:t>I</a:t>
              </a:r>
              <a:r>
                <a:rPr lang="fr-FR" sz="1400" b="1" dirty="0" err="1">
                  <a:solidFill>
                    <a:srgbClr val="D2D5D3"/>
                  </a:solidFill>
                </a:rPr>
                <a:t>ntroduction</a:t>
              </a:r>
              <a:endParaRPr lang="fr-FR" sz="1400" b="1" noProof="0" dirty="0">
                <a:solidFill>
                  <a:srgbClr val="D2D5D3"/>
                </a:solidFill>
              </a:endParaRPr>
            </a:p>
          </p:txBody>
        </p:sp>
      </p:grpSp>
      <p:sp>
        <p:nvSpPr>
          <p:cNvPr id="89" name="Circle: Hollow 19">
            <a:extLst>
              <a:ext uri="{FF2B5EF4-FFF2-40B4-BE49-F238E27FC236}">
                <a16:creationId xmlns:a16="http://schemas.microsoft.com/office/drawing/2014/main" id="{50F8131F-2196-CBAD-C983-BA9804E3F83C}"/>
              </a:ext>
            </a:extLst>
          </p:cNvPr>
          <p:cNvSpPr/>
          <p:nvPr/>
        </p:nvSpPr>
        <p:spPr>
          <a:xfrm>
            <a:off x="4111974" y="117553"/>
            <a:ext cx="342900" cy="342900"/>
          </a:xfrm>
          <a:prstGeom prst="donut">
            <a:avLst>
              <a:gd name="adj" fmla="val 7542"/>
            </a:avLst>
          </a:prstGeom>
          <a:solidFill>
            <a:srgbClr val="1279C5"/>
          </a:solidFill>
          <a:ln>
            <a:solidFill>
              <a:srgbClr val="7C9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91" name="TextBox 20">
            <a:extLst>
              <a:ext uri="{FF2B5EF4-FFF2-40B4-BE49-F238E27FC236}">
                <a16:creationId xmlns:a16="http://schemas.microsoft.com/office/drawing/2014/main" id="{0C3B2A43-2F8C-F4B8-FF3A-0F1D8D03B5E0}"/>
              </a:ext>
            </a:extLst>
          </p:cNvPr>
          <p:cNvSpPr txBox="1"/>
          <p:nvPr/>
        </p:nvSpPr>
        <p:spPr>
          <a:xfrm>
            <a:off x="4432640" y="27393"/>
            <a:ext cx="16745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rgbClr val="1279C5"/>
                </a:solidFill>
              </a:rPr>
              <a:t>Communication &amp; implementation</a:t>
            </a:r>
            <a:endParaRPr lang="fr-FR">
              <a:solidFill>
                <a:srgbClr val="1279C5"/>
              </a:solidFill>
            </a:endParaRPr>
          </a:p>
        </p:txBody>
      </p:sp>
      <p:sp>
        <p:nvSpPr>
          <p:cNvPr id="93" name="Circle: Hollow 22">
            <a:extLst>
              <a:ext uri="{FF2B5EF4-FFF2-40B4-BE49-F238E27FC236}">
                <a16:creationId xmlns:a16="http://schemas.microsoft.com/office/drawing/2014/main" id="{F2C49CB9-4877-5FD4-F676-B8AA7CFB58B5}"/>
              </a:ext>
            </a:extLst>
          </p:cNvPr>
          <p:cNvSpPr/>
          <p:nvPr/>
        </p:nvSpPr>
        <p:spPr>
          <a:xfrm>
            <a:off x="6466507" y="117553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95" name="TextBox 23">
            <a:extLst>
              <a:ext uri="{FF2B5EF4-FFF2-40B4-BE49-F238E27FC236}">
                <a16:creationId xmlns:a16="http://schemas.microsoft.com/office/drawing/2014/main" id="{62C7FCC6-1B45-9055-D05F-5350C86DE654}"/>
              </a:ext>
            </a:extLst>
          </p:cNvPr>
          <p:cNvSpPr txBox="1"/>
          <p:nvPr/>
        </p:nvSpPr>
        <p:spPr>
          <a:xfrm>
            <a:off x="6809407" y="126176"/>
            <a:ext cx="1442826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Lamport clock</a:t>
            </a:r>
            <a:endParaRPr lang="fr-FR" dirty="0"/>
          </a:p>
        </p:txBody>
      </p:sp>
      <p:sp>
        <p:nvSpPr>
          <p:cNvPr id="97" name="Circle: Hollow 9">
            <a:extLst>
              <a:ext uri="{FF2B5EF4-FFF2-40B4-BE49-F238E27FC236}">
                <a16:creationId xmlns:a16="http://schemas.microsoft.com/office/drawing/2014/main" id="{02BC0F2C-EDDE-87B0-0970-718B1C217516}"/>
              </a:ext>
            </a:extLst>
          </p:cNvPr>
          <p:cNvSpPr/>
          <p:nvPr/>
        </p:nvSpPr>
        <p:spPr>
          <a:xfrm>
            <a:off x="8661019" y="111830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99" name="TextBox 16">
            <a:extLst>
              <a:ext uri="{FF2B5EF4-FFF2-40B4-BE49-F238E27FC236}">
                <a16:creationId xmlns:a16="http://schemas.microsoft.com/office/drawing/2014/main" id="{F8E40B9A-5C9E-F258-A52F-0A78F89E53A3}"/>
              </a:ext>
            </a:extLst>
          </p:cNvPr>
          <p:cNvSpPr txBox="1"/>
          <p:nvPr/>
        </p:nvSpPr>
        <p:spPr>
          <a:xfrm>
            <a:off x="9003919" y="116531"/>
            <a:ext cx="189616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 err="1">
                <a:solidFill>
                  <a:schemeClr val="bg2">
                    <a:lumMod val="75000"/>
                  </a:schemeClr>
                </a:solidFill>
              </a:rPr>
              <a:t>Results</a:t>
            </a:r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 &amp; Conclusion</a:t>
            </a:r>
            <a:endParaRPr lang="fr-FR" sz="14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4" name="Circle: Hollow 11">
            <a:extLst>
              <a:ext uri="{FF2B5EF4-FFF2-40B4-BE49-F238E27FC236}">
                <a16:creationId xmlns:a16="http://schemas.microsoft.com/office/drawing/2014/main" id="{25099079-1524-EFF9-E989-A7C466D56960}"/>
              </a:ext>
            </a:extLst>
          </p:cNvPr>
          <p:cNvSpPr/>
          <p:nvPr/>
        </p:nvSpPr>
        <p:spPr>
          <a:xfrm>
            <a:off x="2206182" y="111654"/>
            <a:ext cx="342900" cy="342900"/>
          </a:xfrm>
          <a:prstGeom prst="donut">
            <a:avLst>
              <a:gd name="adj" fmla="val 7542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>
                    <a:lumMod val="76000"/>
                  </a:schemeClr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06" name="TextBox 16">
            <a:extLst>
              <a:ext uri="{FF2B5EF4-FFF2-40B4-BE49-F238E27FC236}">
                <a16:creationId xmlns:a16="http://schemas.microsoft.com/office/drawing/2014/main" id="{E5BAD2CB-0AC3-3977-9DF0-DEBD3DE01B95}"/>
              </a:ext>
            </a:extLst>
          </p:cNvPr>
          <p:cNvSpPr txBox="1"/>
          <p:nvPr/>
        </p:nvSpPr>
        <p:spPr>
          <a:xfrm>
            <a:off x="2526643" y="33293"/>
            <a:ext cx="1295849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>
                <a:solidFill>
                  <a:schemeClr val="bg1">
                    <a:lumMod val="76000"/>
                  </a:schemeClr>
                </a:solidFill>
              </a:rPr>
              <a:t>Sys. </a:t>
            </a:r>
            <a:r>
              <a:rPr lang="fr-FR" sz="1400" err="1">
                <a:solidFill>
                  <a:schemeClr val="bg1">
                    <a:lumMod val="76000"/>
                  </a:schemeClr>
                </a:solidFill>
              </a:rPr>
              <a:t>Overview</a:t>
            </a:r>
            <a:r>
              <a:rPr lang="fr-FR" sz="1400" dirty="0">
                <a:solidFill>
                  <a:schemeClr val="bg1">
                    <a:lumMod val="76000"/>
                  </a:schemeClr>
                </a:solidFill>
              </a:rPr>
              <a:t>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2820384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C205C7-9519-456D-A597-7F8CB5CB9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81F7914-5932-200F-9649-C3899C7E4BD5}"/>
              </a:ext>
            </a:extLst>
          </p:cNvPr>
          <p:cNvSpPr/>
          <p:nvPr/>
        </p:nvSpPr>
        <p:spPr>
          <a:xfrm>
            <a:off x="850334" y="1432754"/>
            <a:ext cx="10227302" cy="4644180"/>
          </a:xfrm>
          <a:prstGeom prst="roundRect">
            <a:avLst>
              <a:gd name="adj" fmla="val 6886"/>
            </a:avLst>
          </a:prstGeom>
          <a:solidFill>
            <a:srgbClr val="F0F5F3"/>
          </a:solidFill>
          <a:ln>
            <a:noFill/>
          </a:ln>
          <a:effectLst>
            <a:outerShdw blurRad="711200" sx="105000" sy="105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280D97-369B-1845-5F32-9FA116DA5723}"/>
              </a:ext>
            </a:extLst>
          </p:cNvPr>
          <p:cNvSpPr/>
          <p:nvPr/>
        </p:nvSpPr>
        <p:spPr>
          <a:xfrm>
            <a:off x="854356" y="5489178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90C2E2-7B6D-4CE3-DDC1-0B7711E0217A}"/>
              </a:ext>
            </a:extLst>
          </p:cNvPr>
          <p:cNvSpPr txBox="1"/>
          <p:nvPr/>
        </p:nvSpPr>
        <p:spPr>
          <a:xfrm>
            <a:off x="11696524" y="6414348"/>
            <a:ext cx="4954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14</a:t>
            </a: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EF3004A-8331-D9BA-CCF1-D016F4817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460" y="3440574"/>
            <a:ext cx="1973484" cy="1963838"/>
          </a:xfrm>
          <a:prstGeom prst="rect">
            <a:avLst/>
          </a:prstGeom>
        </p:spPr>
      </p:pic>
      <p:sp>
        <p:nvSpPr>
          <p:cNvPr id="21" name="TextBox 60">
            <a:extLst>
              <a:ext uri="{FF2B5EF4-FFF2-40B4-BE49-F238E27FC236}">
                <a16:creationId xmlns:a16="http://schemas.microsoft.com/office/drawing/2014/main" id="{9F08CD0E-7E0B-5269-C513-8A42025F30FF}"/>
              </a:ext>
            </a:extLst>
          </p:cNvPr>
          <p:cNvSpPr txBox="1"/>
          <p:nvPr/>
        </p:nvSpPr>
        <p:spPr>
          <a:xfrm>
            <a:off x="2956920" y="1992197"/>
            <a:ext cx="3919989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fr-FR" sz="2400" dirty="0"/>
          </a:p>
        </p:txBody>
      </p: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100566FF-F69E-3660-9ACE-9BC486A30E74}"/>
              </a:ext>
            </a:extLst>
          </p:cNvPr>
          <p:cNvGrpSpPr/>
          <p:nvPr/>
        </p:nvGrpSpPr>
        <p:grpSpPr>
          <a:xfrm>
            <a:off x="1651320" y="1990737"/>
            <a:ext cx="5417342" cy="707886"/>
            <a:chOff x="1651320" y="1990737"/>
            <a:chExt cx="5417342" cy="707886"/>
          </a:xfrm>
        </p:grpSpPr>
        <p:pic>
          <p:nvPicPr>
            <p:cNvPr id="3" name="Image 2" descr="Une image contenant texte, Police, Graphique, logo&#10;&#10;Le contenu généré par l’IA peut être incorrect.">
              <a:extLst>
                <a:ext uri="{FF2B5EF4-FFF2-40B4-BE49-F238E27FC236}">
                  <a16:creationId xmlns:a16="http://schemas.microsoft.com/office/drawing/2014/main" id="{8E18775A-A0F6-3D8C-D8E6-33BE55215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1320" y="1993738"/>
              <a:ext cx="603813" cy="584522"/>
            </a:xfrm>
            <a:prstGeom prst="rect">
              <a:avLst/>
            </a:prstGeom>
          </p:spPr>
        </p:pic>
        <p:sp>
          <p:nvSpPr>
            <p:cNvPr id="25" name="TextBox 36">
              <a:extLst>
                <a:ext uri="{FF2B5EF4-FFF2-40B4-BE49-F238E27FC236}">
                  <a16:creationId xmlns:a16="http://schemas.microsoft.com/office/drawing/2014/main" id="{3B53DEA2-2D28-EA07-005E-9BA6A4C0EF4D}"/>
                </a:ext>
              </a:extLst>
            </p:cNvPr>
            <p:cNvSpPr txBox="1"/>
            <p:nvPr/>
          </p:nvSpPr>
          <p:spPr>
            <a:xfrm>
              <a:off x="2373417" y="1990737"/>
              <a:ext cx="4695245" cy="7078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fr-FR" sz="2000" dirty="0">
                  <a:latin typeface="Consolas"/>
                  <a:ea typeface="+mn-lt"/>
                  <a:cs typeface="+mn-lt"/>
                </a:rPr>
                <a:t>ChatServer.java</a:t>
              </a:r>
              <a:r>
                <a:rPr lang="fr-FR" sz="2000" dirty="0">
                  <a:ea typeface="+mn-lt"/>
                  <a:cs typeface="+mn-lt"/>
                </a:rPr>
                <a:t>: </a:t>
              </a:r>
              <a:r>
                <a:rPr lang="fr-FR" sz="2000" err="1">
                  <a:ea typeface="+mn-lt"/>
                  <a:cs typeface="+mn-lt"/>
                </a:rPr>
                <a:t>connection</a:t>
              </a:r>
              <a:r>
                <a:rPr lang="fr-FR" sz="2000" dirty="0">
                  <a:ea typeface="+mn-lt"/>
                  <a:cs typeface="+mn-lt"/>
                </a:rPr>
                <a:t> handling and </a:t>
              </a:r>
              <a:r>
                <a:rPr lang="fr-FR" sz="2000" err="1">
                  <a:ea typeface="+mn-lt"/>
                  <a:cs typeface="+mn-lt"/>
                </a:rPr>
                <a:t>routing</a:t>
              </a:r>
              <a:endParaRPr lang="fr-FR" sz="2000" dirty="0">
                <a:ea typeface="+mn-lt"/>
                <a:cs typeface="+mn-lt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7CCCE979-B63D-504F-2F28-D2845569BB40}"/>
              </a:ext>
            </a:extLst>
          </p:cNvPr>
          <p:cNvGrpSpPr/>
          <p:nvPr/>
        </p:nvGrpSpPr>
        <p:grpSpPr>
          <a:xfrm>
            <a:off x="1651319" y="2849192"/>
            <a:ext cx="6044305" cy="707886"/>
            <a:chOff x="1651319" y="2849192"/>
            <a:chExt cx="6044305" cy="707886"/>
          </a:xfrm>
        </p:grpSpPr>
        <p:pic>
          <p:nvPicPr>
            <p:cNvPr id="10" name="Image 9" descr="Une image contenant texte, Police, Graphique, logo&#10;&#10;Le contenu généré par l’IA peut être incorrect.">
              <a:extLst>
                <a:ext uri="{FF2B5EF4-FFF2-40B4-BE49-F238E27FC236}">
                  <a16:creationId xmlns:a16="http://schemas.microsoft.com/office/drawing/2014/main" id="{C55A86CA-FF70-F234-27CA-CA4BCDBA0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1319" y="2852193"/>
              <a:ext cx="603813" cy="584522"/>
            </a:xfrm>
            <a:prstGeom prst="rect">
              <a:avLst/>
            </a:prstGeom>
          </p:spPr>
        </p:pic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72DE1150-98D0-1141-2970-736F33237386}"/>
                </a:ext>
              </a:extLst>
            </p:cNvPr>
            <p:cNvSpPr txBox="1"/>
            <p:nvPr/>
          </p:nvSpPr>
          <p:spPr>
            <a:xfrm>
              <a:off x="2373417" y="2849192"/>
              <a:ext cx="5322207" cy="7078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fr-FR" sz="2000" dirty="0">
                  <a:latin typeface="Consolas"/>
                  <a:ea typeface="+mn-lt"/>
                  <a:cs typeface="+mn-lt"/>
                </a:rPr>
                <a:t>ClientHandler.java</a:t>
              </a:r>
              <a:r>
                <a:rPr lang="fr-FR" sz="2000" dirty="0">
                  <a:ea typeface="+mn-lt"/>
                  <a:cs typeface="+mn-lt"/>
                </a:rPr>
                <a:t>: per-client communication thread</a:t>
              </a:r>
              <a:endParaRPr lang="fr-FR" dirty="0"/>
            </a:p>
          </p:txBody>
        </p:sp>
      </p:grp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4E05A264-D0E5-24AD-0DDA-CE2AECDD3771}"/>
              </a:ext>
            </a:extLst>
          </p:cNvPr>
          <p:cNvGrpSpPr/>
          <p:nvPr/>
        </p:nvGrpSpPr>
        <p:grpSpPr>
          <a:xfrm>
            <a:off x="1651320" y="3746231"/>
            <a:ext cx="5234076" cy="707886"/>
            <a:chOff x="1651320" y="3746231"/>
            <a:chExt cx="5234076" cy="707886"/>
          </a:xfrm>
        </p:grpSpPr>
        <p:pic>
          <p:nvPicPr>
            <p:cNvPr id="6" name="Image 5" descr="Une image contenant texte, Police, Graphique, logo&#10;&#10;Le contenu généré par l’IA peut être incorrect.">
              <a:extLst>
                <a:ext uri="{FF2B5EF4-FFF2-40B4-BE49-F238E27FC236}">
                  <a16:creationId xmlns:a16="http://schemas.microsoft.com/office/drawing/2014/main" id="{BA566778-4BE2-8134-1DE0-961D1FBE2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1320" y="3749232"/>
              <a:ext cx="603813" cy="584522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AA79B4B-5CE9-2B78-8B72-8DB5BC1F7E80}"/>
                </a:ext>
              </a:extLst>
            </p:cNvPr>
            <p:cNvSpPr txBox="1"/>
            <p:nvPr/>
          </p:nvSpPr>
          <p:spPr>
            <a:xfrm>
              <a:off x="2373417" y="3746231"/>
              <a:ext cx="4511979" cy="7078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fr-FR" sz="2000" dirty="0">
                  <a:latin typeface="Consolas"/>
                  <a:ea typeface="+mn-lt"/>
                  <a:cs typeface="+mn-lt"/>
                </a:rPr>
                <a:t>ChatClient.java</a:t>
              </a:r>
              <a:r>
                <a:rPr lang="fr-FR" sz="2000" dirty="0">
                  <a:ea typeface="+mn-lt"/>
                  <a:cs typeface="+mn-lt"/>
                </a:rPr>
                <a:t>: message handling and </a:t>
              </a:r>
              <a:r>
                <a:rPr lang="fr-FR" sz="2000" dirty="0" err="1">
                  <a:ea typeface="+mn-lt"/>
                  <a:cs typeface="+mn-lt"/>
                </a:rPr>
                <a:t>clock</a:t>
              </a:r>
              <a:r>
                <a:rPr lang="fr-FR" sz="2000" dirty="0">
                  <a:ea typeface="+mn-lt"/>
                  <a:cs typeface="+mn-lt"/>
                </a:rPr>
                <a:t> </a:t>
              </a:r>
              <a:r>
                <a:rPr lang="fr-FR" sz="2000" dirty="0" err="1">
                  <a:ea typeface="+mn-lt"/>
                  <a:cs typeface="+mn-lt"/>
                </a:rPr>
                <a:t>logic</a:t>
              </a:r>
              <a:endParaRPr lang="fr-FR" dirty="0" err="1"/>
            </a:p>
          </p:txBody>
        </p:sp>
      </p:grp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1047CAE5-D4D1-0A4B-2448-50B957C52BE1}"/>
              </a:ext>
            </a:extLst>
          </p:cNvPr>
          <p:cNvGrpSpPr/>
          <p:nvPr/>
        </p:nvGrpSpPr>
        <p:grpSpPr>
          <a:xfrm>
            <a:off x="1651319" y="4665562"/>
            <a:ext cx="5812810" cy="584522"/>
            <a:chOff x="1651319" y="4665562"/>
            <a:chExt cx="5812810" cy="584522"/>
          </a:xfrm>
        </p:grpSpPr>
        <p:pic>
          <p:nvPicPr>
            <p:cNvPr id="4" name="Image 3" descr="Une image contenant texte, Police, Graphique, logo&#10;&#10;Le contenu généré par l’IA peut être incorrect.">
              <a:extLst>
                <a:ext uri="{FF2B5EF4-FFF2-40B4-BE49-F238E27FC236}">
                  <a16:creationId xmlns:a16="http://schemas.microsoft.com/office/drawing/2014/main" id="{58F07B6B-2146-5EFF-0E2E-AFF9F4FDD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1319" y="4665562"/>
              <a:ext cx="603813" cy="584522"/>
            </a:xfrm>
            <a:prstGeom prst="rect">
              <a:avLst/>
            </a:prstGeom>
          </p:spPr>
        </p:pic>
        <p:sp>
          <p:nvSpPr>
            <p:cNvPr id="38" name="TextBox 36">
              <a:extLst>
                <a:ext uri="{FF2B5EF4-FFF2-40B4-BE49-F238E27FC236}">
                  <a16:creationId xmlns:a16="http://schemas.microsoft.com/office/drawing/2014/main" id="{A234079A-94C3-7911-7672-69879E3F6E31}"/>
                </a:ext>
              </a:extLst>
            </p:cNvPr>
            <p:cNvSpPr txBox="1"/>
            <p:nvPr/>
          </p:nvSpPr>
          <p:spPr>
            <a:xfrm>
              <a:off x="2373416" y="4768660"/>
              <a:ext cx="5090713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fr-FR" sz="2000" dirty="0">
                  <a:latin typeface="Consolas"/>
                  <a:ea typeface="+mn-lt"/>
                  <a:cs typeface="+mn-lt"/>
                </a:rPr>
                <a:t>MultiChatWindow.java</a:t>
              </a:r>
              <a:r>
                <a:rPr lang="fr-FR" sz="2000" dirty="0">
                  <a:ea typeface="+mn-lt"/>
                  <a:cs typeface="+mn-lt"/>
                </a:rPr>
                <a:t>: GUI management</a:t>
              </a:r>
              <a:endParaRPr lang="fr-FR" dirty="0"/>
            </a:p>
          </p:txBody>
        </p:sp>
      </p:grpSp>
      <p:sp>
        <p:nvSpPr>
          <p:cNvPr id="44" name="Oval 21">
            <a:extLst>
              <a:ext uri="{FF2B5EF4-FFF2-40B4-BE49-F238E27FC236}">
                <a16:creationId xmlns:a16="http://schemas.microsoft.com/office/drawing/2014/main" id="{FC3110DF-EB75-9935-86E1-777B1092913C}"/>
              </a:ext>
            </a:extLst>
          </p:cNvPr>
          <p:cNvSpPr/>
          <p:nvPr/>
        </p:nvSpPr>
        <p:spPr>
          <a:xfrm>
            <a:off x="4116005" y="117553"/>
            <a:ext cx="342900" cy="342901"/>
          </a:xfrm>
          <a:prstGeom prst="ellipse">
            <a:avLst/>
          </a:prstGeom>
          <a:solidFill>
            <a:srgbClr val="1279C5"/>
          </a:solidFill>
          <a:ln>
            <a:solidFill>
              <a:srgbClr val="7C9ED7"/>
            </a:solidFill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2" name="Group 26">
            <a:extLst>
              <a:ext uri="{FF2B5EF4-FFF2-40B4-BE49-F238E27FC236}">
                <a16:creationId xmlns:a16="http://schemas.microsoft.com/office/drawing/2014/main" id="{1B1ABBED-7438-5B79-24EC-83E53B2AAE45}"/>
              </a:ext>
            </a:extLst>
          </p:cNvPr>
          <p:cNvGrpSpPr/>
          <p:nvPr/>
        </p:nvGrpSpPr>
        <p:grpSpPr>
          <a:xfrm>
            <a:off x="395683" y="108614"/>
            <a:ext cx="1563491" cy="342902"/>
            <a:chOff x="2401581" y="269029"/>
            <a:chExt cx="1563491" cy="342902"/>
          </a:xfrm>
        </p:grpSpPr>
        <p:sp>
          <p:nvSpPr>
            <p:cNvPr id="46" name="Circle: Hollow 27">
              <a:extLst>
                <a:ext uri="{FF2B5EF4-FFF2-40B4-BE49-F238E27FC236}">
                  <a16:creationId xmlns:a16="http://schemas.microsoft.com/office/drawing/2014/main" id="{118C361A-BA3F-C31E-524E-2D89126BE7B1}"/>
                </a:ext>
              </a:extLst>
            </p:cNvPr>
            <p:cNvSpPr/>
            <p:nvPr/>
          </p:nvSpPr>
          <p:spPr>
            <a:xfrm>
              <a:off x="2401581" y="269031"/>
              <a:ext cx="342900" cy="342900"/>
            </a:xfrm>
            <a:prstGeom prst="donut">
              <a:avLst>
                <a:gd name="adj" fmla="val 7542"/>
              </a:avLst>
            </a:prstGeom>
            <a:solidFill>
              <a:srgbClr val="D2D5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noProof="0" dirty="0">
                  <a:solidFill>
                    <a:srgbClr val="D2D5D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51" name="TextBox 28">
              <a:extLst>
                <a:ext uri="{FF2B5EF4-FFF2-40B4-BE49-F238E27FC236}">
                  <a16:creationId xmlns:a16="http://schemas.microsoft.com/office/drawing/2014/main" id="{B54C7007-C1CA-D36F-4D70-3D0B5CCAB0CD}"/>
                </a:ext>
              </a:extLst>
            </p:cNvPr>
            <p:cNvSpPr txBox="1"/>
            <p:nvPr/>
          </p:nvSpPr>
          <p:spPr>
            <a:xfrm>
              <a:off x="2738579" y="269029"/>
              <a:ext cx="12264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rgbClr val="D2D5D3"/>
                  </a:solidFill>
                </a:rPr>
                <a:t>I</a:t>
              </a:r>
              <a:r>
                <a:rPr lang="fr-FR" sz="1400" b="1" dirty="0" err="1">
                  <a:solidFill>
                    <a:srgbClr val="D2D5D3"/>
                  </a:solidFill>
                </a:rPr>
                <a:t>ntroduction</a:t>
              </a:r>
              <a:endParaRPr lang="fr-FR" sz="1400" b="1" noProof="0" dirty="0">
                <a:solidFill>
                  <a:srgbClr val="D2D5D3"/>
                </a:solidFill>
              </a:endParaRPr>
            </a:p>
          </p:txBody>
        </p:sp>
      </p:grpSp>
      <p:sp>
        <p:nvSpPr>
          <p:cNvPr id="54" name="Circle: Hollow 19">
            <a:extLst>
              <a:ext uri="{FF2B5EF4-FFF2-40B4-BE49-F238E27FC236}">
                <a16:creationId xmlns:a16="http://schemas.microsoft.com/office/drawing/2014/main" id="{E526CCD1-B283-6E4E-FFC8-531E76A8DCA3}"/>
              </a:ext>
            </a:extLst>
          </p:cNvPr>
          <p:cNvSpPr/>
          <p:nvPr/>
        </p:nvSpPr>
        <p:spPr>
          <a:xfrm>
            <a:off x="4111974" y="117553"/>
            <a:ext cx="342900" cy="342900"/>
          </a:xfrm>
          <a:prstGeom prst="donut">
            <a:avLst>
              <a:gd name="adj" fmla="val 7542"/>
            </a:avLst>
          </a:prstGeom>
          <a:solidFill>
            <a:srgbClr val="1279C5"/>
          </a:solidFill>
          <a:ln>
            <a:solidFill>
              <a:srgbClr val="7C9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56" name="TextBox 20">
            <a:extLst>
              <a:ext uri="{FF2B5EF4-FFF2-40B4-BE49-F238E27FC236}">
                <a16:creationId xmlns:a16="http://schemas.microsoft.com/office/drawing/2014/main" id="{7038FDB1-B0B8-E1A9-212F-A9862EC9D1E9}"/>
              </a:ext>
            </a:extLst>
          </p:cNvPr>
          <p:cNvSpPr txBox="1"/>
          <p:nvPr/>
        </p:nvSpPr>
        <p:spPr>
          <a:xfrm>
            <a:off x="4432640" y="27393"/>
            <a:ext cx="16745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rgbClr val="1279C5"/>
                </a:solidFill>
              </a:rPr>
              <a:t>Communication &amp; implementation</a:t>
            </a:r>
            <a:endParaRPr lang="fr-FR">
              <a:solidFill>
                <a:srgbClr val="1279C5"/>
              </a:solidFill>
            </a:endParaRPr>
          </a:p>
        </p:txBody>
      </p:sp>
      <p:sp>
        <p:nvSpPr>
          <p:cNvPr id="58" name="Circle: Hollow 22">
            <a:extLst>
              <a:ext uri="{FF2B5EF4-FFF2-40B4-BE49-F238E27FC236}">
                <a16:creationId xmlns:a16="http://schemas.microsoft.com/office/drawing/2014/main" id="{68DDD117-517F-7590-3663-D357BFC7594D}"/>
              </a:ext>
            </a:extLst>
          </p:cNvPr>
          <p:cNvSpPr/>
          <p:nvPr/>
        </p:nvSpPr>
        <p:spPr>
          <a:xfrm>
            <a:off x="6466507" y="117553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60" name="TextBox 23">
            <a:extLst>
              <a:ext uri="{FF2B5EF4-FFF2-40B4-BE49-F238E27FC236}">
                <a16:creationId xmlns:a16="http://schemas.microsoft.com/office/drawing/2014/main" id="{430C5F71-71B2-A7CA-BBB1-D5EB4B66C777}"/>
              </a:ext>
            </a:extLst>
          </p:cNvPr>
          <p:cNvSpPr txBox="1"/>
          <p:nvPr/>
        </p:nvSpPr>
        <p:spPr>
          <a:xfrm>
            <a:off x="6809407" y="126176"/>
            <a:ext cx="1442826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Lamport clock</a:t>
            </a:r>
            <a:endParaRPr lang="fr-FR" dirty="0"/>
          </a:p>
        </p:txBody>
      </p:sp>
      <p:sp>
        <p:nvSpPr>
          <p:cNvPr id="62" name="Circle: Hollow 9">
            <a:extLst>
              <a:ext uri="{FF2B5EF4-FFF2-40B4-BE49-F238E27FC236}">
                <a16:creationId xmlns:a16="http://schemas.microsoft.com/office/drawing/2014/main" id="{3DEBC3BE-14E2-D95C-8DE6-01B1EAD1EAE3}"/>
              </a:ext>
            </a:extLst>
          </p:cNvPr>
          <p:cNvSpPr/>
          <p:nvPr/>
        </p:nvSpPr>
        <p:spPr>
          <a:xfrm>
            <a:off x="8661019" y="111830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64" name="TextBox 16">
            <a:extLst>
              <a:ext uri="{FF2B5EF4-FFF2-40B4-BE49-F238E27FC236}">
                <a16:creationId xmlns:a16="http://schemas.microsoft.com/office/drawing/2014/main" id="{66A36A48-900E-3841-105A-D026093C49A8}"/>
              </a:ext>
            </a:extLst>
          </p:cNvPr>
          <p:cNvSpPr txBox="1"/>
          <p:nvPr/>
        </p:nvSpPr>
        <p:spPr>
          <a:xfrm>
            <a:off x="9003919" y="116531"/>
            <a:ext cx="189616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 err="1">
                <a:solidFill>
                  <a:schemeClr val="bg2">
                    <a:lumMod val="75000"/>
                  </a:schemeClr>
                </a:solidFill>
              </a:rPr>
              <a:t>Results</a:t>
            </a:r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 &amp; Conclusion</a:t>
            </a:r>
            <a:endParaRPr lang="fr-FR" sz="14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6" name="Circle: Hollow 11">
            <a:extLst>
              <a:ext uri="{FF2B5EF4-FFF2-40B4-BE49-F238E27FC236}">
                <a16:creationId xmlns:a16="http://schemas.microsoft.com/office/drawing/2014/main" id="{F2F82A48-6F76-B4C5-D37E-A09C6A656818}"/>
              </a:ext>
            </a:extLst>
          </p:cNvPr>
          <p:cNvSpPr/>
          <p:nvPr/>
        </p:nvSpPr>
        <p:spPr>
          <a:xfrm>
            <a:off x="2206182" y="111654"/>
            <a:ext cx="342900" cy="342900"/>
          </a:xfrm>
          <a:prstGeom prst="donut">
            <a:avLst>
              <a:gd name="adj" fmla="val 7542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>
                    <a:lumMod val="76000"/>
                  </a:schemeClr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68" name="TextBox 16">
            <a:extLst>
              <a:ext uri="{FF2B5EF4-FFF2-40B4-BE49-F238E27FC236}">
                <a16:creationId xmlns:a16="http://schemas.microsoft.com/office/drawing/2014/main" id="{AA99869B-EEE2-72F9-2932-D1F60999CF90}"/>
              </a:ext>
            </a:extLst>
          </p:cNvPr>
          <p:cNvSpPr txBox="1"/>
          <p:nvPr/>
        </p:nvSpPr>
        <p:spPr>
          <a:xfrm>
            <a:off x="2526643" y="33293"/>
            <a:ext cx="1295849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>
                <a:solidFill>
                  <a:schemeClr val="bg1">
                    <a:lumMod val="76000"/>
                  </a:schemeClr>
                </a:solidFill>
              </a:rPr>
              <a:t>Sys. </a:t>
            </a:r>
            <a:r>
              <a:rPr lang="fr-FR" sz="1400" err="1">
                <a:solidFill>
                  <a:schemeClr val="bg1">
                    <a:lumMod val="76000"/>
                  </a:schemeClr>
                </a:solidFill>
              </a:rPr>
              <a:t>Overview</a:t>
            </a:r>
            <a:r>
              <a:rPr lang="fr-FR" sz="1400" dirty="0">
                <a:solidFill>
                  <a:schemeClr val="bg1">
                    <a:lumMod val="76000"/>
                  </a:schemeClr>
                </a:solidFill>
              </a:rPr>
              <a:t>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32199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C1284-92B0-0BEA-2173-6581EF67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969AC3F2-98F6-94AD-1A4C-A176546D28A6}"/>
              </a:ext>
            </a:extLst>
          </p:cNvPr>
          <p:cNvGrpSpPr/>
          <p:nvPr/>
        </p:nvGrpSpPr>
        <p:grpSpPr>
          <a:xfrm>
            <a:off x="2634723" y="2632843"/>
            <a:ext cx="7667131" cy="1013871"/>
            <a:chOff x="2634723" y="2632843"/>
            <a:chExt cx="7667131" cy="101387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092CFF6-4364-D5B4-7C4C-EA08F8297CC3}"/>
                </a:ext>
              </a:extLst>
            </p:cNvPr>
            <p:cNvSpPr/>
            <p:nvPr/>
          </p:nvSpPr>
          <p:spPr>
            <a:xfrm>
              <a:off x="2634723" y="2632843"/>
              <a:ext cx="997692" cy="1013871"/>
            </a:xfrm>
            <a:prstGeom prst="ellipse">
              <a:avLst/>
            </a:prstGeom>
            <a:solidFill>
              <a:srgbClr val="F0F5F3"/>
            </a:solidFill>
            <a:ln w="34925">
              <a:solidFill>
                <a:srgbClr val="7C9ED7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4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4</a:t>
              </a:r>
              <a:endParaRPr lang="fr-FR" sz="8800" b="1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A1D18E6-2A16-3E37-B47E-A80734610876}"/>
                </a:ext>
              </a:extLst>
            </p:cNvPr>
            <p:cNvSpPr txBox="1"/>
            <p:nvPr/>
          </p:nvSpPr>
          <p:spPr>
            <a:xfrm>
              <a:off x="3888565" y="2783995"/>
              <a:ext cx="6413289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fr-FR" sz="3600" b="1" dirty="0" err="1">
                  <a:latin typeface="Segoe UI"/>
                  <a:ea typeface="+mn-lt"/>
                  <a:cs typeface="Segoe UI"/>
                </a:rPr>
                <a:t>Lamport</a:t>
              </a:r>
              <a:r>
                <a:rPr lang="fr-FR" sz="3600" b="1" dirty="0">
                  <a:latin typeface="Segoe UI"/>
                  <a:ea typeface="+mn-lt"/>
                  <a:cs typeface="Segoe UI"/>
                </a:rPr>
                <a:t> </a:t>
              </a:r>
              <a:r>
                <a:rPr lang="fr-FR" sz="3600" b="1" dirty="0" err="1">
                  <a:latin typeface="Segoe UI"/>
                  <a:ea typeface="+mn-lt"/>
                  <a:cs typeface="Segoe UI"/>
                </a:rPr>
                <a:t>Clock</a:t>
              </a:r>
              <a:r>
                <a:rPr lang="fr-FR" sz="3600" b="1" dirty="0">
                  <a:latin typeface="Segoe UI"/>
                  <a:ea typeface="+mn-lt"/>
                  <a:cs typeface="Segoe UI"/>
                </a:rPr>
                <a:t> </a:t>
              </a:r>
              <a:r>
                <a:rPr lang="fr-FR" sz="3600" b="1" dirty="0" err="1">
                  <a:latin typeface="Segoe UI"/>
                  <a:ea typeface="+mn-lt"/>
                  <a:cs typeface="Segoe UI"/>
                </a:rPr>
                <a:t>Integration</a:t>
              </a:r>
              <a:endParaRPr lang="fr-FR" sz="3600" dirty="0" err="1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8542B6BB-C553-B355-44D5-0BD111169BB7}"/>
              </a:ext>
            </a:extLst>
          </p:cNvPr>
          <p:cNvSpPr/>
          <p:nvPr/>
        </p:nvSpPr>
        <p:spPr>
          <a:xfrm>
            <a:off x="-1838192" y="244529"/>
            <a:ext cx="2657476" cy="2628900"/>
          </a:xfrm>
          <a:prstGeom prst="ellipse">
            <a:avLst/>
          </a:prstGeom>
          <a:solidFill>
            <a:srgbClr val="1279C5"/>
          </a:solidFill>
          <a:ln>
            <a:noFill/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6A1743-1B3E-6EB4-6C62-A670D1FAA2BA}"/>
              </a:ext>
            </a:extLst>
          </p:cNvPr>
          <p:cNvSpPr txBox="1"/>
          <p:nvPr/>
        </p:nvSpPr>
        <p:spPr>
          <a:xfrm>
            <a:off x="11664419" y="6457890"/>
            <a:ext cx="52758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15</a:t>
            </a:r>
            <a:endParaRPr lang="fr-FR" sz="2000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438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7872B-0B59-8E5C-8EE7-BE59F855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871C6FBC-99D5-6675-53B5-E024565F9F95}"/>
              </a:ext>
            </a:extLst>
          </p:cNvPr>
          <p:cNvSpPr/>
          <p:nvPr/>
        </p:nvSpPr>
        <p:spPr>
          <a:xfrm>
            <a:off x="850334" y="1432754"/>
            <a:ext cx="10227302" cy="4644180"/>
          </a:xfrm>
          <a:prstGeom prst="roundRect">
            <a:avLst>
              <a:gd name="adj" fmla="val 6886"/>
            </a:avLst>
          </a:prstGeom>
          <a:solidFill>
            <a:srgbClr val="F0F5F3"/>
          </a:solidFill>
          <a:ln>
            <a:noFill/>
          </a:ln>
          <a:effectLst>
            <a:outerShdw blurRad="711200" sx="105000" sy="105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05E0872-29AC-5392-27B1-C51214E98463}"/>
              </a:ext>
            </a:extLst>
          </p:cNvPr>
          <p:cNvSpPr/>
          <p:nvPr/>
        </p:nvSpPr>
        <p:spPr>
          <a:xfrm>
            <a:off x="854356" y="5489178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8A361F-C00F-FE96-C2BE-864CDD511B45}"/>
              </a:ext>
            </a:extLst>
          </p:cNvPr>
          <p:cNvSpPr txBox="1"/>
          <p:nvPr/>
        </p:nvSpPr>
        <p:spPr>
          <a:xfrm>
            <a:off x="11664418" y="6419309"/>
            <a:ext cx="52758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16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DBAB26D-4A3B-7D81-E0F3-C9B12E7204FA}"/>
              </a:ext>
            </a:extLst>
          </p:cNvPr>
          <p:cNvSpPr txBox="1"/>
          <p:nvPr/>
        </p:nvSpPr>
        <p:spPr>
          <a:xfrm>
            <a:off x="1407815" y="1964877"/>
            <a:ext cx="580843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dirty="0" err="1">
                <a:ea typeface="+mn-lt"/>
                <a:cs typeface="+mn-lt"/>
              </a:rPr>
              <a:t>Each</a:t>
            </a:r>
            <a:r>
              <a:rPr lang="fr-FR" sz="2000" dirty="0">
                <a:ea typeface="+mn-lt"/>
                <a:cs typeface="+mn-lt"/>
              </a:rPr>
              <a:t> client </a:t>
            </a:r>
            <a:r>
              <a:rPr lang="fr-FR" sz="2000" dirty="0" err="1">
                <a:ea typeface="+mn-lt"/>
                <a:cs typeface="+mn-lt"/>
              </a:rPr>
              <a:t>maintains</a:t>
            </a:r>
            <a:r>
              <a:rPr lang="fr-FR" sz="2000" dirty="0">
                <a:ea typeface="+mn-lt"/>
                <a:cs typeface="+mn-lt"/>
              </a:rPr>
              <a:t> a</a:t>
            </a:r>
            <a:r>
              <a:rPr lang="fr-FR" sz="2000" b="1" dirty="0">
                <a:ea typeface="+mn-lt"/>
                <a:cs typeface="+mn-lt"/>
              </a:rPr>
              <a:t> local </a:t>
            </a:r>
            <a:r>
              <a:rPr lang="fr-FR" sz="2000" b="1" dirty="0" err="1">
                <a:ea typeface="+mn-lt"/>
                <a:cs typeface="+mn-lt"/>
              </a:rPr>
              <a:t>Lamport</a:t>
            </a:r>
            <a:r>
              <a:rPr lang="fr-FR" sz="2000" b="1" dirty="0">
                <a:ea typeface="+mn-lt"/>
                <a:cs typeface="+mn-lt"/>
              </a:rPr>
              <a:t> </a:t>
            </a:r>
            <a:r>
              <a:rPr lang="fr-FR" sz="2000" b="1" dirty="0" err="1">
                <a:ea typeface="+mn-lt"/>
                <a:cs typeface="+mn-lt"/>
              </a:rPr>
              <a:t>clock</a:t>
            </a:r>
            <a:endParaRPr lang="fr-FR" sz="2000" b="1" dirty="0"/>
          </a:p>
        </p:txBody>
      </p:sp>
      <p:grpSp>
        <p:nvGrpSpPr>
          <p:cNvPr id="10" name="Group 72">
            <a:extLst>
              <a:ext uri="{FF2B5EF4-FFF2-40B4-BE49-F238E27FC236}">
                <a16:creationId xmlns:a16="http://schemas.microsoft.com/office/drawing/2014/main" id="{1A14A424-336B-15C5-6EDB-AFE275517AD6}"/>
              </a:ext>
            </a:extLst>
          </p:cNvPr>
          <p:cNvGrpSpPr/>
          <p:nvPr/>
        </p:nvGrpSpPr>
        <p:grpSpPr>
          <a:xfrm>
            <a:off x="1979005" y="2648096"/>
            <a:ext cx="6740207" cy="461665"/>
            <a:chOff x="4348459" y="2311708"/>
            <a:chExt cx="6740207" cy="461665"/>
          </a:xfrm>
        </p:grpSpPr>
        <p:sp>
          <p:nvSpPr>
            <p:cNvPr id="4" name="Oval 55">
              <a:extLst>
                <a:ext uri="{FF2B5EF4-FFF2-40B4-BE49-F238E27FC236}">
                  <a16:creationId xmlns:a16="http://schemas.microsoft.com/office/drawing/2014/main" id="{53AFB0ED-A8C5-7751-BBAF-904CE61092ED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TextBox 60">
              <a:extLst>
                <a:ext uri="{FF2B5EF4-FFF2-40B4-BE49-F238E27FC236}">
                  <a16:creationId xmlns:a16="http://schemas.microsoft.com/office/drawing/2014/main" id="{393BBEF2-EE7D-5296-5019-F66F243FEE38}"/>
                </a:ext>
              </a:extLst>
            </p:cNvPr>
            <p:cNvSpPr txBox="1"/>
            <p:nvPr/>
          </p:nvSpPr>
          <p:spPr>
            <a:xfrm>
              <a:off x="4747640" y="2311708"/>
              <a:ext cx="6341026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 err="1">
                  <a:ea typeface="+mn-lt"/>
                  <a:cs typeface="+mn-lt"/>
                </a:rPr>
                <a:t>Increment</a:t>
              </a:r>
              <a:r>
                <a:rPr lang="fr-FR" sz="2400" dirty="0">
                  <a:ea typeface="+mn-lt"/>
                  <a:cs typeface="+mn-lt"/>
                </a:rPr>
                <a:t> </a:t>
              </a:r>
              <a:r>
                <a:rPr lang="fr-FR" sz="2400" dirty="0" err="1">
                  <a:ea typeface="+mn-lt"/>
                  <a:cs typeface="+mn-lt"/>
                </a:rPr>
                <a:t>clock</a:t>
              </a:r>
              <a:r>
                <a:rPr lang="fr-FR" sz="2400" dirty="0">
                  <a:ea typeface="+mn-lt"/>
                  <a:cs typeface="+mn-lt"/>
                </a:rPr>
                <a:t> </a:t>
              </a:r>
              <a:r>
                <a:rPr lang="fr-FR" sz="2400" dirty="0" err="1">
                  <a:ea typeface="+mn-lt"/>
                  <a:cs typeface="+mn-lt"/>
                </a:rPr>
                <a:t>before</a:t>
              </a:r>
              <a:r>
                <a:rPr lang="fr-FR" sz="2400" dirty="0">
                  <a:ea typeface="+mn-lt"/>
                  <a:cs typeface="+mn-lt"/>
                </a:rPr>
                <a:t> </a:t>
              </a:r>
              <a:r>
                <a:rPr lang="fr-FR" sz="2400" dirty="0" err="1">
                  <a:ea typeface="+mn-lt"/>
                  <a:cs typeface="+mn-lt"/>
                </a:rPr>
                <a:t>sending</a:t>
              </a:r>
              <a:r>
                <a:rPr lang="fr-FR" sz="2400" dirty="0">
                  <a:ea typeface="+mn-lt"/>
                  <a:cs typeface="+mn-lt"/>
                </a:rPr>
                <a:t> a message</a:t>
              </a:r>
              <a:endParaRPr lang="fr-FR" dirty="0"/>
            </a:p>
          </p:txBody>
        </p:sp>
      </p:grpSp>
      <p:grpSp>
        <p:nvGrpSpPr>
          <p:cNvPr id="25" name="Group 72">
            <a:extLst>
              <a:ext uri="{FF2B5EF4-FFF2-40B4-BE49-F238E27FC236}">
                <a16:creationId xmlns:a16="http://schemas.microsoft.com/office/drawing/2014/main" id="{8B40FD44-DC33-8CDC-34C2-BC85D3DBD8A0}"/>
              </a:ext>
            </a:extLst>
          </p:cNvPr>
          <p:cNvGrpSpPr/>
          <p:nvPr/>
        </p:nvGrpSpPr>
        <p:grpSpPr>
          <a:xfrm>
            <a:off x="1977076" y="3427458"/>
            <a:ext cx="6354384" cy="461665"/>
            <a:chOff x="4348459" y="2311708"/>
            <a:chExt cx="6354384" cy="461665"/>
          </a:xfrm>
        </p:grpSpPr>
        <p:sp>
          <p:nvSpPr>
            <p:cNvPr id="23" name="Oval 55">
              <a:extLst>
                <a:ext uri="{FF2B5EF4-FFF2-40B4-BE49-F238E27FC236}">
                  <a16:creationId xmlns:a16="http://schemas.microsoft.com/office/drawing/2014/main" id="{F20FAC79-F1C6-8134-AC71-2584465171F3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TextBox 60">
              <a:extLst>
                <a:ext uri="{FF2B5EF4-FFF2-40B4-BE49-F238E27FC236}">
                  <a16:creationId xmlns:a16="http://schemas.microsoft.com/office/drawing/2014/main" id="{C092C80D-F8B4-452B-E954-26C9ED35E92F}"/>
                </a:ext>
              </a:extLst>
            </p:cNvPr>
            <p:cNvSpPr txBox="1"/>
            <p:nvPr/>
          </p:nvSpPr>
          <p:spPr>
            <a:xfrm>
              <a:off x="4747640" y="2311708"/>
              <a:ext cx="5955203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 err="1">
                  <a:ea typeface="+mn-lt"/>
                  <a:cs typeface="+mn-lt"/>
                </a:rPr>
                <a:t>Attach</a:t>
              </a:r>
              <a:r>
                <a:rPr lang="fr-FR" sz="2400" dirty="0">
                  <a:ea typeface="+mn-lt"/>
                  <a:cs typeface="+mn-lt"/>
                </a:rPr>
                <a:t> </a:t>
              </a:r>
              <a:r>
                <a:rPr lang="fr-FR" sz="2400" dirty="0" err="1">
                  <a:ea typeface="+mn-lt"/>
                  <a:cs typeface="+mn-lt"/>
                </a:rPr>
                <a:t>clock</a:t>
              </a:r>
              <a:r>
                <a:rPr lang="fr-FR" sz="2400" dirty="0">
                  <a:ea typeface="+mn-lt"/>
                  <a:cs typeface="+mn-lt"/>
                </a:rPr>
                <a:t> value to </a:t>
              </a:r>
              <a:r>
                <a:rPr lang="fr-FR" sz="2400" dirty="0" err="1">
                  <a:ea typeface="+mn-lt"/>
                  <a:cs typeface="+mn-lt"/>
                </a:rPr>
                <a:t>outgoing</a:t>
              </a:r>
              <a:r>
                <a:rPr lang="fr-FR" sz="2400" dirty="0">
                  <a:ea typeface="+mn-lt"/>
                  <a:cs typeface="+mn-lt"/>
                </a:rPr>
                <a:t> message</a:t>
              </a:r>
              <a:endParaRPr lang="fr-FR" dirty="0"/>
            </a:p>
          </p:txBody>
        </p:sp>
      </p:grpSp>
      <p:grpSp>
        <p:nvGrpSpPr>
          <p:cNvPr id="36" name="Group 72">
            <a:extLst>
              <a:ext uri="{FF2B5EF4-FFF2-40B4-BE49-F238E27FC236}">
                <a16:creationId xmlns:a16="http://schemas.microsoft.com/office/drawing/2014/main" id="{EBDEB602-D1CA-9352-DCE4-51881409F711}"/>
              </a:ext>
            </a:extLst>
          </p:cNvPr>
          <p:cNvGrpSpPr/>
          <p:nvPr/>
        </p:nvGrpSpPr>
        <p:grpSpPr>
          <a:xfrm>
            <a:off x="1975147" y="4245402"/>
            <a:ext cx="4328815" cy="461665"/>
            <a:chOff x="4348459" y="2311708"/>
            <a:chExt cx="4328815" cy="461665"/>
          </a:xfrm>
        </p:grpSpPr>
        <p:sp>
          <p:nvSpPr>
            <p:cNvPr id="33" name="Oval 55">
              <a:extLst>
                <a:ext uri="{FF2B5EF4-FFF2-40B4-BE49-F238E27FC236}">
                  <a16:creationId xmlns:a16="http://schemas.microsoft.com/office/drawing/2014/main" id="{5EFFABAE-B30D-E625-2B9C-2522CADBE14B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4" name="TextBox 60">
              <a:extLst>
                <a:ext uri="{FF2B5EF4-FFF2-40B4-BE49-F238E27FC236}">
                  <a16:creationId xmlns:a16="http://schemas.microsoft.com/office/drawing/2014/main" id="{829296AB-598C-1476-3A2A-75EC8F1CDA1A}"/>
                </a:ext>
              </a:extLst>
            </p:cNvPr>
            <p:cNvSpPr txBox="1"/>
            <p:nvPr/>
          </p:nvSpPr>
          <p:spPr>
            <a:xfrm>
              <a:off x="4757285" y="2311708"/>
              <a:ext cx="391998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>
                  <a:ea typeface="+mn-lt"/>
                  <a:cs typeface="+mn-lt"/>
                </a:rPr>
                <a:t>On </a:t>
              </a:r>
              <a:r>
                <a:rPr lang="fr-FR" sz="2400" dirty="0" err="1">
                  <a:ea typeface="+mn-lt"/>
                  <a:cs typeface="+mn-lt"/>
                </a:rPr>
                <a:t>receive</a:t>
              </a:r>
              <a:r>
                <a:rPr lang="fr-FR" sz="2400" dirty="0">
                  <a:ea typeface="+mn-lt"/>
                  <a:cs typeface="+mn-lt"/>
                </a:rPr>
                <a:t>:</a:t>
              </a:r>
              <a:endParaRPr lang="fr-FR" dirty="0"/>
            </a:p>
          </p:txBody>
        </p:sp>
      </p:grp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24C4EE51-1653-EA01-9F95-EA08986516EA}"/>
              </a:ext>
            </a:extLst>
          </p:cNvPr>
          <p:cNvSpPr/>
          <p:nvPr/>
        </p:nvSpPr>
        <p:spPr>
          <a:xfrm>
            <a:off x="2468891" y="4800301"/>
            <a:ext cx="4683660" cy="491809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dirty="0" err="1">
                <a:ea typeface="+mn-lt"/>
                <a:cs typeface="+mn-lt"/>
              </a:rPr>
              <a:t>clock</a:t>
            </a:r>
            <a:r>
              <a:rPr lang="fr-FR" dirty="0">
                <a:ea typeface="+mn-lt"/>
                <a:cs typeface="+mn-lt"/>
              </a:rPr>
              <a:t> = max(</a:t>
            </a:r>
            <a:r>
              <a:rPr lang="fr-FR" dirty="0" err="1">
                <a:ea typeface="+mn-lt"/>
                <a:cs typeface="+mn-lt"/>
              </a:rPr>
              <a:t>localClock</a:t>
            </a:r>
            <a:r>
              <a:rPr lang="fr-FR" dirty="0">
                <a:ea typeface="+mn-lt"/>
                <a:cs typeface="+mn-lt"/>
              </a:rPr>
              <a:t>, </a:t>
            </a:r>
            <a:r>
              <a:rPr lang="fr-FR" dirty="0" err="1">
                <a:ea typeface="+mn-lt"/>
                <a:cs typeface="+mn-lt"/>
              </a:rPr>
              <a:t>receivedClock</a:t>
            </a:r>
            <a:r>
              <a:rPr lang="fr-FR" dirty="0">
                <a:ea typeface="+mn-lt"/>
                <a:cs typeface="+mn-lt"/>
              </a:rPr>
              <a:t>) + 1</a:t>
            </a:r>
          </a:p>
        </p:txBody>
      </p:sp>
      <p:sp>
        <p:nvSpPr>
          <p:cNvPr id="42" name="Oval 21">
            <a:extLst>
              <a:ext uri="{FF2B5EF4-FFF2-40B4-BE49-F238E27FC236}">
                <a16:creationId xmlns:a16="http://schemas.microsoft.com/office/drawing/2014/main" id="{7C9B2407-A31E-B83F-CF68-7B90DA39EDE8}"/>
              </a:ext>
            </a:extLst>
          </p:cNvPr>
          <p:cNvSpPr/>
          <p:nvPr/>
        </p:nvSpPr>
        <p:spPr>
          <a:xfrm>
            <a:off x="6469524" y="117553"/>
            <a:ext cx="342900" cy="342901"/>
          </a:xfrm>
          <a:prstGeom prst="ellipse">
            <a:avLst/>
          </a:prstGeom>
          <a:solidFill>
            <a:srgbClr val="1279C5"/>
          </a:solidFill>
          <a:ln>
            <a:solidFill>
              <a:srgbClr val="7C9ED7"/>
            </a:solidFill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8" name="Group 26">
            <a:extLst>
              <a:ext uri="{FF2B5EF4-FFF2-40B4-BE49-F238E27FC236}">
                <a16:creationId xmlns:a16="http://schemas.microsoft.com/office/drawing/2014/main" id="{530D1A23-EC49-6D55-E61F-13F04A9E8F40}"/>
              </a:ext>
            </a:extLst>
          </p:cNvPr>
          <p:cNvGrpSpPr/>
          <p:nvPr/>
        </p:nvGrpSpPr>
        <p:grpSpPr>
          <a:xfrm>
            <a:off x="395683" y="108614"/>
            <a:ext cx="1563491" cy="342902"/>
            <a:chOff x="2401581" y="269029"/>
            <a:chExt cx="1563491" cy="342902"/>
          </a:xfrm>
        </p:grpSpPr>
        <p:sp>
          <p:nvSpPr>
            <p:cNvPr id="46" name="Circle: Hollow 27">
              <a:extLst>
                <a:ext uri="{FF2B5EF4-FFF2-40B4-BE49-F238E27FC236}">
                  <a16:creationId xmlns:a16="http://schemas.microsoft.com/office/drawing/2014/main" id="{06F921D8-16D0-B1BC-1BB4-BD9D138F4850}"/>
                </a:ext>
              </a:extLst>
            </p:cNvPr>
            <p:cNvSpPr/>
            <p:nvPr/>
          </p:nvSpPr>
          <p:spPr>
            <a:xfrm>
              <a:off x="2401581" y="269031"/>
              <a:ext cx="342900" cy="342900"/>
            </a:xfrm>
            <a:prstGeom prst="donut">
              <a:avLst>
                <a:gd name="adj" fmla="val 7542"/>
              </a:avLst>
            </a:prstGeom>
            <a:solidFill>
              <a:srgbClr val="D2D5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noProof="0" dirty="0">
                  <a:solidFill>
                    <a:srgbClr val="D2D5D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47" name="TextBox 28">
              <a:extLst>
                <a:ext uri="{FF2B5EF4-FFF2-40B4-BE49-F238E27FC236}">
                  <a16:creationId xmlns:a16="http://schemas.microsoft.com/office/drawing/2014/main" id="{E2A057EE-C471-579E-C75B-268CF3FDE969}"/>
                </a:ext>
              </a:extLst>
            </p:cNvPr>
            <p:cNvSpPr txBox="1"/>
            <p:nvPr/>
          </p:nvSpPr>
          <p:spPr>
            <a:xfrm>
              <a:off x="2738579" y="269029"/>
              <a:ext cx="12264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rgbClr val="D2D5D3"/>
                  </a:solidFill>
                </a:rPr>
                <a:t>I</a:t>
              </a:r>
              <a:r>
                <a:rPr lang="fr-FR" sz="1400" b="1" dirty="0" err="1">
                  <a:solidFill>
                    <a:srgbClr val="D2D5D3"/>
                  </a:solidFill>
                </a:rPr>
                <a:t>ntroduction</a:t>
              </a:r>
              <a:endParaRPr lang="fr-FR" sz="1400" b="1" noProof="0" dirty="0">
                <a:solidFill>
                  <a:srgbClr val="D2D5D3"/>
                </a:solidFill>
              </a:endParaRPr>
            </a:p>
          </p:txBody>
        </p:sp>
      </p:grpSp>
      <p:sp>
        <p:nvSpPr>
          <p:cNvPr id="50" name="Circle: Hollow 19">
            <a:extLst>
              <a:ext uri="{FF2B5EF4-FFF2-40B4-BE49-F238E27FC236}">
                <a16:creationId xmlns:a16="http://schemas.microsoft.com/office/drawing/2014/main" id="{C337E177-3713-9199-6FA3-1BDDE0A7E4D4}"/>
              </a:ext>
            </a:extLst>
          </p:cNvPr>
          <p:cNvSpPr/>
          <p:nvPr/>
        </p:nvSpPr>
        <p:spPr>
          <a:xfrm>
            <a:off x="4083037" y="98262"/>
            <a:ext cx="342900" cy="342900"/>
          </a:xfrm>
          <a:prstGeom prst="donut">
            <a:avLst>
              <a:gd name="adj" fmla="val 7542"/>
            </a:avLst>
          </a:prstGeom>
          <a:solidFill>
            <a:srgbClr val="D2D5D3"/>
          </a:solidFill>
          <a:ln>
            <a:solidFill>
              <a:srgbClr val="D2D5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>
                    <a:lumMod val="76000"/>
                  </a:schemeClr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54" name="TextBox 20">
            <a:extLst>
              <a:ext uri="{FF2B5EF4-FFF2-40B4-BE49-F238E27FC236}">
                <a16:creationId xmlns:a16="http://schemas.microsoft.com/office/drawing/2014/main" id="{D9272F86-B1E4-A9B0-A644-AF7B14B11F4B}"/>
              </a:ext>
            </a:extLst>
          </p:cNvPr>
          <p:cNvSpPr txBox="1"/>
          <p:nvPr/>
        </p:nvSpPr>
        <p:spPr>
          <a:xfrm>
            <a:off x="4432640" y="27393"/>
            <a:ext cx="16745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1">
                    <a:lumMod val="76000"/>
                  </a:schemeClr>
                </a:solidFill>
              </a:rPr>
              <a:t>Communication &amp; implementation</a:t>
            </a:r>
            <a:endParaRPr lang="fr-FR">
              <a:solidFill>
                <a:schemeClr val="bg1">
                  <a:lumMod val="76000"/>
                </a:schemeClr>
              </a:solidFill>
            </a:endParaRPr>
          </a:p>
        </p:txBody>
      </p:sp>
      <p:sp>
        <p:nvSpPr>
          <p:cNvPr id="56" name="Circle: Hollow 22">
            <a:extLst>
              <a:ext uri="{FF2B5EF4-FFF2-40B4-BE49-F238E27FC236}">
                <a16:creationId xmlns:a16="http://schemas.microsoft.com/office/drawing/2014/main" id="{5143177A-B1A4-2348-450B-F407E79F7F54}"/>
              </a:ext>
            </a:extLst>
          </p:cNvPr>
          <p:cNvSpPr/>
          <p:nvPr/>
        </p:nvSpPr>
        <p:spPr>
          <a:xfrm>
            <a:off x="6466507" y="117553"/>
            <a:ext cx="342900" cy="342900"/>
          </a:xfrm>
          <a:prstGeom prst="donut">
            <a:avLst>
              <a:gd name="adj" fmla="val 7542"/>
            </a:avLst>
          </a:prstGeom>
          <a:solidFill>
            <a:srgbClr val="7C9ED7"/>
          </a:solidFill>
          <a:ln>
            <a:solidFill>
              <a:srgbClr val="7C9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58" name="TextBox 23">
            <a:extLst>
              <a:ext uri="{FF2B5EF4-FFF2-40B4-BE49-F238E27FC236}">
                <a16:creationId xmlns:a16="http://schemas.microsoft.com/office/drawing/2014/main" id="{772E927B-6A7C-2570-9AC4-B83AD89E95D1}"/>
              </a:ext>
            </a:extLst>
          </p:cNvPr>
          <p:cNvSpPr txBox="1"/>
          <p:nvPr/>
        </p:nvSpPr>
        <p:spPr>
          <a:xfrm>
            <a:off x="6809407" y="126176"/>
            <a:ext cx="1442826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rgbClr val="1279C5"/>
                </a:solidFill>
              </a:rPr>
              <a:t>Lamport clock</a:t>
            </a:r>
            <a:endParaRPr lang="fr-FR">
              <a:solidFill>
                <a:srgbClr val="1279C5"/>
              </a:solidFill>
            </a:endParaRPr>
          </a:p>
        </p:txBody>
      </p:sp>
      <p:sp>
        <p:nvSpPr>
          <p:cNvPr id="60" name="Circle: Hollow 9">
            <a:extLst>
              <a:ext uri="{FF2B5EF4-FFF2-40B4-BE49-F238E27FC236}">
                <a16:creationId xmlns:a16="http://schemas.microsoft.com/office/drawing/2014/main" id="{3B98A552-9FFE-35D8-582A-D41C720EE21E}"/>
              </a:ext>
            </a:extLst>
          </p:cNvPr>
          <p:cNvSpPr/>
          <p:nvPr/>
        </p:nvSpPr>
        <p:spPr>
          <a:xfrm>
            <a:off x="8661019" y="111830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62" name="TextBox 16">
            <a:extLst>
              <a:ext uri="{FF2B5EF4-FFF2-40B4-BE49-F238E27FC236}">
                <a16:creationId xmlns:a16="http://schemas.microsoft.com/office/drawing/2014/main" id="{1FA0BCF0-5596-62CA-7FA9-B33F89150BD9}"/>
              </a:ext>
            </a:extLst>
          </p:cNvPr>
          <p:cNvSpPr txBox="1"/>
          <p:nvPr/>
        </p:nvSpPr>
        <p:spPr>
          <a:xfrm>
            <a:off x="9003919" y="116531"/>
            <a:ext cx="189616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 err="1">
                <a:solidFill>
                  <a:schemeClr val="bg2">
                    <a:lumMod val="75000"/>
                  </a:schemeClr>
                </a:solidFill>
              </a:rPr>
              <a:t>Results</a:t>
            </a:r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 &amp; Conclusion</a:t>
            </a:r>
            <a:endParaRPr lang="fr-FR" sz="14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4" name="Circle: Hollow 11">
            <a:extLst>
              <a:ext uri="{FF2B5EF4-FFF2-40B4-BE49-F238E27FC236}">
                <a16:creationId xmlns:a16="http://schemas.microsoft.com/office/drawing/2014/main" id="{C887E80C-9BB5-5A0F-FD5C-270F7D943BB3}"/>
              </a:ext>
            </a:extLst>
          </p:cNvPr>
          <p:cNvSpPr/>
          <p:nvPr/>
        </p:nvSpPr>
        <p:spPr>
          <a:xfrm>
            <a:off x="2206182" y="111654"/>
            <a:ext cx="342900" cy="342900"/>
          </a:xfrm>
          <a:prstGeom prst="donut">
            <a:avLst>
              <a:gd name="adj" fmla="val 7542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>
                    <a:lumMod val="76000"/>
                  </a:schemeClr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66" name="TextBox 16">
            <a:extLst>
              <a:ext uri="{FF2B5EF4-FFF2-40B4-BE49-F238E27FC236}">
                <a16:creationId xmlns:a16="http://schemas.microsoft.com/office/drawing/2014/main" id="{5C631951-CDDA-6A7E-32B1-194E4F031F62}"/>
              </a:ext>
            </a:extLst>
          </p:cNvPr>
          <p:cNvSpPr txBox="1"/>
          <p:nvPr/>
        </p:nvSpPr>
        <p:spPr>
          <a:xfrm>
            <a:off x="2526643" y="33293"/>
            <a:ext cx="1295849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>
                <a:solidFill>
                  <a:schemeClr val="bg1">
                    <a:lumMod val="76000"/>
                  </a:schemeClr>
                </a:solidFill>
              </a:rPr>
              <a:t>Sys. </a:t>
            </a:r>
            <a:r>
              <a:rPr lang="fr-FR" sz="1400" err="1">
                <a:solidFill>
                  <a:schemeClr val="bg1">
                    <a:lumMod val="76000"/>
                  </a:schemeClr>
                </a:solidFill>
              </a:rPr>
              <a:t>Overview</a:t>
            </a:r>
            <a:r>
              <a:rPr lang="fr-FR" sz="1400" dirty="0">
                <a:solidFill>
                  <a:schemeClr val="bg1">
                    <a:lumMod val="76000"/>
                  </a:schemeClr>
                </a:solidFill>
              </a:rPr>
              <a:t> &amp; architecture</a:t>
            </a:r>
          </a:p>
        </p:txBody>
      </p:sp>
      <p:pic>
        <p:nvPicPr>
          <p:cNvPr id="68" name="Image 67">
            <a:extLst>
              <a:ext uri="{FF2B5EF4-FFF2-40B4-BE49-F238E27FC236}">
                <a16:creationId xmlns:a16="http://schemas.microsoft.com/office/drawing/2014/main" id="{48011E60-3D3D-FAF4-A242-3F16C65EF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493" y="3481402"/>
            <a:ext cx="833194" cy="812315"/>
          </a:xfrm>
          <a:prstGeom prst="rect">
            <a:avLst/>
          </a:prstGeom>
        </p:spPr>
      </p:pic>
      <p:pic>
        <p:nvPicPr>
          <p:cNvPr id="70" name="Image 69">
            <a:extLst>
              <a:ext uri="{FF2B5EF4-FFF2-40B4-BE49-F238E27FC236}">
                <a16:creationId xmlns:a16="http://schemas.microsoft.com/office/drawing/2014/main" id="{5473FFB7-2801-85DC-B649-F3A9F894A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0682" y="4561705"/>
            <a:ext cx="505245" cy="474721"/>
          </a:xfrm>
          <a:prstGeom prst="rect">
            <a:avLst/>
          </a:prstGeom>
        </p:spPr>
      </p:pic>
      <p:pic>
        <p:nvPicPr>
          <p:cNvPr id="72" name="Image 71">
            <a:extLst>
              <a:ext uri="{FF2B5EF4-FFF2-40B4-BE49-F238E27FC236}">
                <a16:creationId xmlns:a16="http://schemas.microsoft.com/office/drawing/2014/main" id="{BA45A60E-3EDC-FED0-BCF2-1514D65CD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657" y="4214465"/>
            <a:ext cx="717447" cy="68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819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A30A9-EEC0-17AE-4628-8BB009AA5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0FE986A4-0B6F-98D8-DD53-8063F69DB098}"/>
              </a:ext>
            </a:extLst>
          </p:cNvPr>
          <p:cNvSpPr/>
          <p:nvPr/>
        </p:nvSpPr>
        <p:spPr>
          <a:xfrm>
            <a:off x="850334" y="1432754"/>
            <a:ext cx="10227302" cy="4644180"/>
          </a:xfrm>
          <a:prstGeom prst="roundRect">
            <a:avLst>
              <a:gd name="adj" fmla="val 6886"/>
            </a:avLst>
          </a:prstGeom>
          <a:solidFill>
            <a:srgbClr val="F0F5F3"/>
          </a:solidFill>
          <a:ln>
            <a:noFill/>
          </a:ln>
          <a:effectLst>
            <a:outerShdw blurRad="711200" sx="105000" sy="105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CADA9C1-1162-356E-2207-EF2547CFE2E7}"/>
              </a:ext>
            </a:extLst>
          </p:cNvPr>
          <p:cNvSpPr/>
          <p:nvPr/>
        </p:nvSpPr>
        <p:spPr>
          <a:xfrm>
            <a:off x="854356" y="5489178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4034C5-3771-A151-5208-EE06F5CD88E2}"/>
              </a:ext>
            </a:extLst>
          </p:cNvPr>
          <p:cNvSpPr txBox="1"/>
          <p:nvPr/>
        </p:nvSpPr>
        <p:spPr>
          <a:xfrm>
            <a:off x="11664418" y="6419309"/>
            <a:ext cx="52758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17</a:t>
            </a:r>
            <a:endParaRPr lang="fr-FR" sz="2000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E797590-6EDD-2B44-7274-BFFC648E5B46}"/>
              </a:ext>
            </a:extLst>
          </p:cNvPr>
          <p:cNvSpPr txBox="1"/>
          <p:nvPr/>
        </p:nvSpPr>
        <p:spPr>
          <a:xfrm>
            <a:off x="1321005" y="2350700"/>
            <a:ext cx="141969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b="1" dirty="0" err="1">
                <a:ea typeface="+mn-lt"/>
                <a:cs typeface="+mn-lt"/>
              </a:rPr>
              <a:t>Purpose</a:t>
            </a:r>
            <a:endParaRPr lang="fr-FR" sz="2400" b="1" dirty="0" err="1"/>
          </a:p>
        </p:txBody>
      </p:sp>
      <p:grpSp>
        <p:nvGrpSpPr>
          <p:cNvPr id="10" name="Group 72">
            <a:extLst>
              <a:ext uri="{FF2B5EF4-FFF2-40B4-BE49-F238E27FC236}">
                <a16:creationId xmlns:a16="http://schemas.microsoft.com/office/drawing/2014/main" id="{201194A1-5E3A-5C83-D360-27CD43261363}"/>
              </a:ext>
            </a:extLst>
          </p:cNvPr>
          <p:cNvGrpSpPr/>
          <p:nvPr/>
        </p:nvGrpSpPr>
        <p:grpSpPr>
          <a:xfrm>
            <a:off x="2326245" y="3197894"/>
            <a:ext cx="6740207" cy="461665"/>
            <a:chOff x="4348459" y="2311708"/>
            <a:chExt cx="6740207" cy="461665"/>
          </a:xfrm>
        </p:grpSpPr>
        <p:sp>
          <p:nvSpPr>
            <p:cNvPr id="4" name="Oval 55">
              <a:extLst>
                <a:ext uri="{FF2B5EF4-FFF2-40B4-BE49-F238E27FC236}">
                  <a16:creationId xmlns:a16="http://schemas.microsoft.com/office/drawing/2014/main" id="{4A67B5B4-4CAB-8C76-D4A3-A04A2639304D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TextBox 60">
              <a:extLst>
                <a:ext uri="{FF2B5EF4-FFF2-40B4-BE49-F238E27FC236}">
                  <a16:creationId xmlns:a16="http://schemas.microsoft.com/office/drawing/2014/main" id="{BDB7DC0D-6741-F63D-B4A2-CB9B0AD3EF12}"/>
                </a:ext>
              </a:extLst>
            </p:cNvPr>
            <p:cNvSpPr txBox="1"/>
            <p:nvPr/>
          </p:nvSpPr>
          <p:spPr>
            <a:xfrm>
              <a:off x="4747640" y="2311708"/>
              <a:ext cx="6341026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>
                  <a:ea typeface="+mn-lt"/>
                  <a:cs typeface="+mn-lt"/>
                </a:rPr>
                <a:t>Preserve causal </a:t>
              </a:r>
              <a:r>
                <a:rPr lang="fr-FR" sz="2400" dirty="0" err="1">
                  <a:ea typeface="+mn-lt"/>
                  <a:cs typeface="+mn-lt"/>
                </a:rPr>
                <a:t>ordering</a:t>
              </a:r>
              <a:r>
                <a:rPr lang="fr-FR" sz="2400" dirty="0">
                  <a:ea typeface="+mn-lt"/>
                  <a:cs typeface="+mn-lt"/>
                </a:rPr>
                <a:t> of </a:t>
              </a:r>
              <a:r>
                <a:rPr lang="fr-FR" sz="2400" dirty="0" err="1">
                  <a:ea typeface="+mn-lt"/>
                  <a:cs typeface="+mn-lt"/>
                </a:rPr>
                <a:t>events</a:t>
              </a:r>
              <a:endParaRPr lang="fr-FR" dirty="0" err="1"/>
            </a:p>
          </p:txBody>
        </p:sp>
      </p:grpSp>
      <p:grpSp>
        <p:nvGrpSpPr>
          <p:cNvPr id="25" name="Group 72">
            <a:extLst>
              <a:ext uri="{FF2B5EF4-FFF2-40B4-BE49-F238E27FC236}">
                <a16:creationId xmlns:a16="http://schemas.microsoft.com/office/drawing/2014/main" id="{23CBA65F-C87F-9DA3-D497-CB3136411F81}"/>
              </a:ext>
            </a:extLst>
          </p:cNvPr>
          <p:cNvGrpSpPr/>
          <p:nvPr/>
        </p:nvGrpSpPr>
        <p:grpSpPr>
          <a:xfrm>
            <a:off x="2324317" y="3996547"/>
            <a:ext cx="6354384" cy="461665"/>
            <a:chOff x="4348459" y="2311708"/>
            <a:chExt cx="6354384" cy="461665"/>
          </a:xfrm>
        </p:grpSpPr>
        <p:sp>
          <p:nvSpPr>
            <p:cNvPr id="23" name="Oval 55">
              <a:extLst>
                <a:ext uri="{FF2B5EF4-FFF2-40B4-BE49-F238E27FC236}">
                  <a16:creationId xmlns:a16="http://schemas.microsoft.com/office/drawing/2014/main" id="{47D6A2D2-EFB7-C53B-03D6-9407712CFD8D}"/>
                </a:ext>
              </a:extLst>
            </p:cNvPr>
            <p:cNvSpPr/>
            <p:nvPr/>
          </p:nvSpPr>
          <p:spPr>
            <a:xfrm>
              <a:off x="4348459" y="2429040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TextBox 60">
              <a:extLst>
                <a:ext uri="{FF2B5EF4-FFF2-40B4-BE49-F238E27FC236}">
                  <a16:creationId xmlns:a16="http://schemas.microsoft.com/office/drawing/2014/main" id="{D5B8CAF8-837C-4BD0-5613-956E06F272E5}"/>
                </a:ext>
              </a:extLst>
            </p:cNvPr>
            <p:cNvSpPr txBox="1"/>
            <p:nvPr/>
          </p:nvSpPr>
          <p:spPr>
            <a:xfrm>
              <a:off x="4747640" y="2311708"/>
              <a:ext cx="5955203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 err="1">
                  <a:ea typeface="+mn-lt"/>
                  <a:cs typeface="+mn-lt"/>
                </a:rPr>
                <a:t>Avoid</a:t>
              </a:r>
              <a:r>
                <a:rPr lang="fr-FR" sz="2400" dirty="0">
                  <a:ea typeface="+mn-lt"/>
                  <a:cs typeface="+mn-lt"/>
                </a:rPr>
                <a:t> </a:t>
              </a:r>
              <a:r>
                <a:rPr lang="fr-FR" sz="2400" dirty="0" err="1">
                  <a:ea typeface="+mn-lt"/>
                  <a:cs typeface="+mn-lt"/>
                </a:rPr>
                <a:t>reliance</a:t>
              </a:r>
              <a:r>
                <a:rPr lang="fr-FR" sz="2400" dirty="0">
                  <a:ea typeface="+mn-lt"/>
                  <a:cs typeface="+mn-lt"/>
                </a:rPr>
                <a:t> on </a:t>
              </a:r>
              <a:r>
                <a:rPr lang="fr-FR" sz="2400" dirty="0" err="1">
                  <a:ea typeface="+mn-lt"/>
                  <a:cs typeface="+mn-lt"/>
                </a:rPr>
                <a:t>physical</a:t>
              </a:r>
              <a:r>
                <a:rPr lang="fr-FR" sz="2400" dirty="0">
                  <a:ea typeface="+mn-lt"/>
                  <a:cs typeface="+mn-lt"/>
                </a:rPr>
                <a:t> time</a:t>
              </a:r>
              <a:endParaRPr lang="fr-FR" dirty="0">
                <a:ea typeface="+mn-lt"/>
                <a:cs typeface="+mn-lt"/>
              </a:endParaRPr>
            </a:p>
          </p:txBody>
        </p:sp>
      </p:grpSp>
      <p:sp>
        <p:nvSpPr>
          <p:cNvPr id="11" name="Oval 21">
            <a:extLst>
              <a:ext uri="{FF2B5EF4-FFF2-40B4-BE49-F238E27FC236}">
                <a16:creationId xmlns:a16="http://schemas.microsoft.com/office/drawing/2014/main" id="{BD774604-44EF-F29D-69B7-E4384D67D7AC}"/>
              </a:ext>
            </a:extLst>
          </p:cNvPr>
          <p:cNvSpPr/>
          <p:nvPr/>
        </p:nvSpPr>
        <p:spPr>
          <a:xfrm>
            <a:off x="6469524" y="117553"/>
            <a:ext cx="342900" cy="342901"/>
          </a:xfrm>
          <a:prstGeom prst="ellipse">
            <a:avLst/>
          </a:prstGeom>
          <a:solidFill>
            <a:srgbClr val="1279C5"/>
          </a:solidFill>
          <a:ln>
            <a:solidFill>
              <a:srgbClr val="7C9ED7"/>
            </a:solidFill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8" name="Group 26">
            <a:extLst>
              <a:ext uri="{FF2B5EF4-FFF2-40B4-BE49-F238E27FC236}">
                <a16:creationId xmlns:a16="http://schemas.microsoft.com/office/drawing/2014/main" id="{2AB786C8-2420-25B4-9A1D-321829CE143F}"/>
              </a:ext>
            </a:extLst>
          </p:cNvPr>
          <p:cNvGrpSpPr/>
          <p:nvPr/>
        </p:nvGrpSpPr>
        <p:grpSpPr>
          <a:xfrm>
            <a:off x="395683" y="108614"/>
            <a:ext cx="1563491" cy="342902"/>
            <a:chOff x="2401581" y="269029"/>
            <a:chExt cx="1563491" cy="342902"/>
          </a:xfrm>
        </p:grpSpPr>
        <p:sp>
          <p:nvSpPr>
            <p:cNvPr id="21" name="Circle: Hollow 27">
              <a:extLst>
                <a:ext uri="{FF2B5EF4-FFF2-40B4-BE49-F238E27FC236}">
                  <a16:creationId xmlns:a16="http://schemas.microsoft.com/office/drawing/2014/main" id="{03F8B81F-8201-B3D3-C18C-55754B88014E}"/>
                </a:ext>
              </a:extLst>
            </p:cNvPr>
            <p:cNvSpPr/>
            <p:nvPr/>
          </p:nvSpPr>
          <p:spPr>
            <a:xfrm>
              <a:off x="2401581" y="269031"/>
              <a:ext cx="342900" cy="342900"/>
            </a:xfrm>
            <a:prstGeom prst="donut">
              <a:avLst>
                <a:gd name="adj" fmla="val 7542"/>
              </a:avLst>
            </a:prstGeom>
            <a:solidFill>
              <a:srgbClr val="D2D5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noProof="0" dirty="0">
                  <a:solidFill>
                    <a:srgbClr val="D2D5D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2" name="TextBox 28">
              <a:extLst>
                <a:ext uri="{FF2B5EF4-FFF2-40B4-BE49-F238E27FC236}">
                  <a16:creationId xmlns:a16="http://schemas.microsoft.com/office/drawing/2014/main" id="{CC26ED27-14C2-7458-9057-FF50D379F54F}"/>
                </a:ext>
              </a:extLst>
            </p:cNvPr>
            <p:cNvSpPr txBox="1"/>
            <p:nvPr/>
          </p:nvSpPr>
          <p:spPr>
            <a:xfrm>
              <a:off x="2738579" y="269029"/>
              <a:ext cx="12264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rgbClr val="D2D5D3"/>
                  </a:solidFill>
                </a:rPr>
                <a:t>I</a:t>
              </a:r>
              <a:r>
                <a:rPr lang="fr-FR" sz="1400" b="1" dirty="0" err="1">
                  <a:solidFill>
                    <a:srgbClr val="D2D5D3"/>
                  </a:solidFill>
                </a:rPr>
                <a:t>ntroduction</a:t>
              </a:r>
              <a:endParaRPr lang="fr-FR" sz="1400" b="1" noProof="0" dirty="0">
                <a:solidFill>
                  <a:srgbClr val="D2D5D3"/>
                </a:solidFill>
              </a:endParaRPr>
            </a:p>
          </p:txBody>
        </p:sp>
      </p:grpSp>
      <p:sp>
        <p:nvSpPr>
          <p:cNvPr id="31" name="Circle: Hollow 19">
            <a:extLst>
              <a:ext uri="{FF2B5EF4-FFF2-40B4-BE49-F238E27FC236}">
                <a16:creationId xmlns:a16="http://schemas.microsoft.com/office/drawing/2014/main" id="{C249D604-65A1-EDBF-4212-DBF6D288DD49}"/>
              </a:ext>
            </a:extLst>
          </p:cNvPr>
          <p:cNvSpPr/>
          <p:nvPr/>
        </p:nvSpPr>
        <p:spPr>
          <a:xfrm>
            <a:off x="4083037" y="98262"/>
            <a:ext cx="342900" cy="342900"/>
          </a:xfrm>
          <a:prstGeom prst="donut">
            <a:avLst>
              <a:gd name="adj" fmla="val 7542"/>
            </a:avLst>
          </a:prstGeom>
          <a:solidFill>
            <a:srgbClr val="D2D5D3"/>
          </a:solidFill>
          <a:ln>
            <a:solidFill>
              <a:srgbClr val="D2D5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>
                    <a:lumMod val="76000"/>
                  </a:schemeClr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35" name="TextBox 20">
            <a:extLst>
              <a:ext uri="{FF2B5EF4-FFF2-40B4-BE49-F238E27FC236}">
                <a16:creationId xmlns:a16="http://schemas.microsoft.com/office/drawing/2014/main" id="{6612E161-2E46-403D-8D35-68C13EF3FA6A}"/>
              </a:ext>
            </a:extLst>
          </p:cNvPr>
          <p:cNvSpPr txBox="1"/>
          <p:nvPr/>
        </p:nvSpPr>
        <p:spPr>
          <a:xfrm>
            <a:off x="4432640" y="27393"/>
            <a:ext cx="16745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1">
                    <a:lumMod val="76000"/>
                  </a:schemeClr>
                </a:solidFill>
              </a:rPr>
              <a:t>Communication &amp; implementation</a:t>
            </a:r>
            <a:endParaRPr lang="fr-FR">
              <a:solidFill>
                <a:schemeClr val="bg1">
                  <a:lumMod val="76000"/>
                </a:schemeClr>
              </a:solidFill>
            </a:endParaRPr>
          </a:p>
        </p:txBody>
      </p:sp>
      <p:sp>
        <p:nvSpPr>
          <p:cNvPr id="38" name="Circle: Hollow 22">
            <a:extLst>
              <a:ext uri="{FF2B5EF4-FFF2-40B4-BE49-F238E27FC236}">
                <a16:creationId xmlns:a16="http://schemas.microsoft.com/office/drawing/2014/main" id="{A8890B8F-71BA-4FE6-3688-B2D6EC257662}"/>
              </a:ext>
            </a:extLst>
          </p:cNvPr>
          <p:cNvSpPr/>
          <p:nvPr/>
        </p:nvSpPr>
        <p:spPr>
          <a:xfrm>
            <a:off x="6466507" y="117553"/>
            <a:ext cx="342900" cy="342900"/>
          </a:xfrm>
          <a:prstGeom prst="donut">
            <a:avLst>
              <a:gd name="adj" fmla="val 7542"/>
            </a:avLst>
          </a:prstGeom>
          <a:solidFill>
            <a:srgbClr val="7C9ED7"/>
          </a:solidFill>
          <a:ln>
            <a:solidFill>
              <a:srgbClr val="7C9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CE900385-F827-2AF5-85F2-F3960CBA5329}"/>
              </a:ext>
            </a:extLst>
          </p:cNvPr>
          <p:cNvSpPr txBox="1"/>
          <p:nvPr/>
        </p:nvSpPr>
        <p:spPr>
          <a:xfrm>
            <a:off x="6809407" y="126176"/>
            <a:ext cx="1442826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rgbClr val="1279C5"/>
                </a:solidFill>
              </a:rPr>
              <a:t>Lamport clock</a:t>
            </a:r>
            <a:endParaRPr lang="fr-FR">
              <a:solidFill>
                <a:srgbClr val="1279C5"/>
              </a:solidFill>
            </a:endParaRPr>
          </a:p>
        </p:txBody>
      </p:sp>
      <p:sp>
        <p:nvSpPr>
          <p:cNvPr id="43" name="Circle: Hollow 9">
            <a:extLst>
              <a:ext uri="{FF2B5EF4-FFF2-40B4-BE49-F238E27FC236}">
                <a16:creationId xmlns:a16="http://schemas.microsoft.com/office/drawing/2014/main" id="{8DB619DD-745D-1BD6-E9D6-4F8BF62864A4}"/>
              </a:ext>
            </a:extLst>
          </p:cNvPr>
          <p:cNvSpPr/>
          <p:nvPr/>
        </p:nvSpPr>
        <p:spPr>
          <a:xfrm>
            <a:off x="8661019" y="111830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46" name="TextBox 16">
            <a:extLst>
              <a:ext uri="{FF2B5EF4-FFF2-40B4-BE49-F238E27FC236}">
                <a16:creationId xmlns:a16="http://schemas.microsoft.com/office/drawing/2014/main" id="{E7BF058A-42DA-BAB0-DFEA-C8690348F062}"/>
              </a:ext>
            </a:extLst>
          </p:cNvPr>
          <p:cNvSpPr txBox="1"/>
          <p:nvPr/>
        </p:nvSpPr>
        <p:spPr>
          <a:xfrm>
            <a:off x="9003919" y="116531"/>
            <a:ext cx="189616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 err="1">
                <a:solidFill>
                  <a:schemeClr val="bg2">
                    <a:lumMod val="75000"/>
                  </a:schemeClr>
                </a:solidFill>
              </a:rPr>
              <a:t>Results</a:t>
            </a:r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 &amp; Conclusion</a:t>
            </a:r>
            <a:endParaRPr lang="fr-FR" sz="14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8" name="Circle: Hollow 11">
            <a:extLst>
              <a:ext uri="{FF2B5EF4-FFF2-40B4-BE49-F238E27FC236}">
                <a16:creationId xmlns:a16="http://schemas.microsoft.com/office/drawing/2014/main" id="{C946CDFE-B0AD-EF3D-A586-21D72E0F8DCC}"/>
              </a:ext>
            </a:extLst>
          </p:cNvPr>
          <p:cNvSpPr/>
          <p:nvPr/>
        </p:nvSpPr>
        <p:spPr>
          <a:xfrm>
            <a:off x="2206182" y="111654"/>
            <a:ext cx="342900" cy="342900"/>
          </a:xfrm>
          <a:prstGeom prst="donut">
            <a:avLst>
              <a:gd name="adj" fmla="val 7542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>
                    <a:lumMod val="76000"/>
                  </a:schemeClr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50" name="TextBox 16">
            <a:extLst>
              <a:ext uri="{FF2B5EF4-FFF2-40B4-BE49-F238E27FC236}">
                <a16:creationId xmlns:a16="http://schemas.microsoft.com/office/drawing/2014/main" id="{6897071F-8FBA-5E38-8FD5-4F7E9176CD4B}"/>
              </a:ext>
            </a:extLst>
          </p:cNvPr>
          <p:cNvSpPr txBox="1"/>
          <p:nvPr/>
        </p:nvSpPr>
        <p:spPr>
          <a:xfrm>
            <a:off x="2526643" y="33293"/>
            <a:ext cx="1295849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>
                <a:solidFill>
                  <a:schemeClr val="bg1">
                    <a:lumMod val="76000"/>
                  </a:schemeClr>
                </a:solidFill>
              </a:rPr>
              <a:t>Sys. </a:t>
            </a:r>
            <a:r>
              <a:rPr lang="fr-FR" sz="1400" err="1">
                <a:solidFill>
                  <a:schemeClr val="bg1">
                    <a:lumMod val="76000"/>
                  </a:schemeClr>
                </a:solidFill>
              </a:rPr>
              <a:t>Overview</a:t>
            </a:r>
            <a:r>
              <a:rPr lang="fr-FR" sz="1400" dirty="0">
                <a:solidFill>
                  <a:schemeClr val="bg1">
                    <a:lumMod val="76000"/>
                  </a:schemeClr>
                </a:solidFill>
              </a:rPr>
              <a:t>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2528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EE359-BA54-C0D8-F40A-12B510BB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516FE3EC-7B61-88BA-9286-9AB23A958A3A}"/>
              </a:ext>
            </a:extLst>
          </p:cNvPr>
          <p:cNvSpPr/>
          <p:nvPr/>
        </p:nvSpPr>
        <p:spPr>
          <a:xfrm>
            <a:off x="850334" y="1432754"/>
            <a:ext cx="10227302" cy="4644180"/>
          </a:xfrm>
          <a:prstGeom prst="roundRect">
            <a:avLst>
              <a:gd name="adj" fmla="val 6886"/>
            </a:avLst>
          </a:prstGeom>
          <a:solidFill>
            <a:srgbClr val="F0F5F3"/>
          </a:solidFill>
          <a:ln>
            <a:noFill/>
          </a:ln>
          <a:effectLst>
            <a:outerShdw blurRad="711200" sx="105000" sy="105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A968213-2E02-DC11-3EA2-A4F67E944534}"/>
              </a:ext>
            </a:extLst>
          </p:cNvPr>
          <p:cNvSpPr/>
          <p:nvPr/>
        </p:nvSpPr>
        <p:spPr>
          <a:xfrm>
            <a:off x="854356" y="5489178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D8589B-9700-7236-FC90-F39BDA3EDEF4}"/>
              </a:ext>
            </a:extLst>
          </p:cNvPr>
          <p:cNvSpPr txBox="1"/>
          <p:nvPr/>
        </p:nvSpPr>
        <p:spPr>
          <a:xfrm>
            <a:off x="11664418" y="6419309"/>
            <a:ext cx="52758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18</a:t>
            </a:r>
            <a:endParaRPr lang="fr-FR" sz="2000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Image 2" descr="Une image contenant texte, capture d’écran, affichage, logiciel">
            <a:extLst>
              <a:ext uri="{FF2B5EF4-FFF2-40B4-BE49-F238E27FC236}">
                <a16:creationId xmlns:a16="http://schemas.microsoft.com/office/drawing/2014/main" id="{17A766C9-8F8F-BDB9-06F4-F77C6F7F4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308" y="1925014"/>
            <a:ext cx="5264673" cy="3577061"/>
          </a:xfrm>
          <a:prstGeom prst="rect">
            <a:avLst/>
          </a:prstGeom>
        </p:spPr>
      </p:pic>
      <p:sp>
        <p:nvSpPr>
          <p:cNvPr id="11" name="Flèche : gauche 10">
            <a:extLst>
              <a:ext uri="{FF2B5EF4-FFF2-40B4-BE49-F238E27FC236}">
                <a16:creationId xmlns:a16="http://schemas.microsoft.com/office/drawing/2014/main" id="{0B3A39BA-351D-4E6A-6215-71959B13895F}"/>
              </a:ext>
            </a:extLst>
          </p:cNvPr>
          <p:cNvSpPr/>
          <p:nvPr/>
        </p:nvSpPr>
        <p:spPr>
          <a:xfrm>
            <a:off x="6538418" y="2208405"/>
            <a:ext cx="1000529" cy="241091"/>
          </a:xfrm>
          <a:prstGeom prst="leftArrow">
            <a:avLst/>
          </a:prstGeom>
          <a:solidFill>
            <a:srgbClr val="1279C5"/>
          </a:solidFill>
          <a:ln>
            <a:solidFill>
              <a:srgbClr val="7C9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2FB804C-1D9C-A37C-C38E-77A3017CC611}"/>
              </a:ext>
            </a:extLst>
          </p:cNvPr>
          <p:cNvSpPr txBox="1"/>
          <p:nvPr/>
        </p:nvSpPr>
        <p:spPr>
          <a:xfrm>
            <a:off x="7647420" y="2000993"/>
            <a:ext cx="2150466" cy="6559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b="1" dirty="0" err="1"/>
              <a:t>Lamport</a:t>
            </a:r>
            <a:r>
              <a:rPr lang="fr-FR" b="1" dirty="0"/>
              <a:t> </a:t>
            </a:r>
            <a:r>
              <a:rPr lang="fr-FR" b="1" dirty="0" err="1"/>
              <a:t>clock</a:t>
            </a:r>
            <a:r>
              <a:rPr lang="fr-FR" b="1" dirty="0"/>
              <a:t> </a:t>
            </a:r>
            <a:r>
              <a:rPr lang="fr-FR" b="1" dirty="0" err="1"/>
              <a:t>initially</a:t>
            </a:r>
            <a:r>
              <a:rPr lang="fr-FR" b="1" dirty="0"/>
              <a:t> set to 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0705351-5811-E58C-97EB-68BC0C3B30B0}"/>
              </a:ext>
            </a:extLst>
          </p:cNvPr>
          <p:cNvSpPr/>
          <p:nvPr/>
        </p:nvSpPr>
        <p:spPr>
          <a:xfrm>
            <a:off x="6469524" y="117553"/>
            <a:ext cx="342900" cy="342901"/>
          </a:xfrm>
          <a:prstGeom prst="ellipse">
            <a:avLst/>
          </a:prstGeom>
          <a:solidFill>
            <a:srgbClr val="1279C5"/>
          </a:solidFill>
          <a:ln>
            <a:solidFill>
              <a:srgbClr val="7C9ED7"/>
            </a:solidFill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2" name="Group 26">
            <a:extLst>
              <a:ext uri="{FF2B5EF4-FFF2-40B4-BE49-F238E27FC236}">
                <a16:creationId xmlns:a16="http://schemas.microsoft.com/office/drawing/2014/main" id="{36AC90A6-88C4-FAA9-EE67-4C060A96A1AA}"/>
              </a:ext>
            </a:extLst>
          </p:cNvPr>
          <p:cNvGrpSpPr/>
          <p:nvPr/>
        </p:nvGrpSpPr>
        <p:grpSpPr>
          <a:xfrm>
            <a:off x="395683" y="108614"/>
            <a:ext cx="1563491" cy="342902"/>
            <a:chOff x="2401581" y="269029"/>
            <a:chExt cx="1563491" cy="342902"/>
          </a:xfrm>
        </p:grpSpPr>
        <p:sp>
          <p:nvSpPr>
            <p:cNvPr id="30" name="Circle: Hollow 27">
              <a:extLst>
                <a:ext uri="{FF2B5EF4-FFF2-40B4-BE49-F238E27FC236}">
                  <a16:creationId xmlns:a16="http://schemas.microsoft.com/office/drawing/2014/main" id="{5FB96CD3-68F7-B8EB-6917-422F75619497}"/>
                </a:ext>
              </a:extLst>
            </p:cNvPr>
            <p:cNvSpPr/>
            <p:nvPr/>
          </p:nvSpPr>
          <p:spPr>
            <a:xfrm>
              <a:off x="2401581" y="269031"/>
              <a:ext cx="342900" cy="342900"/>
            </a:xfrm>
            <a:prstGeom prst="donut">
              <a:avLst>
                <a:gd name="adj" fmla="val 7542"/>
              </a:avLst>
            </a:prstGeom>
            <a:solidFill>
              <a:srgbClr val="D2D5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noProof="0" dirty="0">
                  <a:solidFill>
                    <a:srgbClr val="D2D5D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31" name="TextBox 28">
              <a:extLst>
                <a:ext uri="{FF2B5EF4-FFF2-40B4-BE49-F238E27FC236}">
                  <a16:creationId xmlns:a16="http://schemas.microsoft.com/office/drawing/2014/main" id="{B3E6ABBB-9A0A-BDA4-A015-C9A177021215}"/>
                </a:ext>
              </a:extLst>
            </p:cNvPr>
            <p:cNvSpPr txBox="1"/>
            <p:nvPr/>
          </p:nvSpPr>
          <p:spPr>
            <a:xfrm>
              <a:off x="2738579" y="269029"/>
              <a:ext cx="12264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rgbClr val="D2D5D3"/>
                  </a:solidFill>
                </a:rPr>
                <a:t>I</a:t>
              </a:r>
              <a:r>
                <a:rPr lang="fr-FR" sz="1400" b="1" dirty="0" err="1">
                  <a:solidFill>
                    <a:srgbClr val="D2D5D3"/>
                  </a:solidFill>
                </a:rPr>
                <a:t>ntroduction</a:t>
              </a:r>
              <a:endParaRPr lang="fr-FR" sz="1400" b="1" noProof="0" dirty="0">
                <a:solidFill>
                  <a:srgbClr val="D2D5D3"/>
                </a:solidFill>
              </a:endParaRPr>
            </a:p>
          </p:txBody>
        </p:sp>
      </p:grpSp>
      <p:sp>
        <p:nvSpPr>
          <p:cNvPr id="34" name="Circle: Hollow 19">
            <a:extLst>
              <a:ext uri="{FF2B5EF4-FFF2-40B4-BE49-F238E27FC236}">
                <a16:creationId xmlns:a16="http://schemas.microsoft.com/office/drawing/2014/main" id="{D54DDF7B-F4DA-AA41-8EEC-421671C3097C}"/>
              </a:ext>
            </a:extLst>
          </p:cNvPr>
          <p:cNvSpPr/>
          <p:nvPr/>
        </p:nvSpPr>
        <p:spPr>
          <a:xfrm>
            <a:off x="4083037" y="98262"/>
            <a:ext cx="342900" cy="342900"/>
          </a:xfrm>
          <a:prstGeom prst="donut">
            <a:avLst>
              <a:gd name="adj" fmla="val 7542"/>
            </a:avLst>
          </a:prstGeom>
          <a:solidFill>
            <a:srgbClr val="D2D5D3"/>
          </a:solidFill>
          <a:ln>
            <a:solidFill>
              <a:srgbClr val="D2D5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>
                    <a:lumMod val="76000"/>
                  </a:schemeClr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9B1973FA-5E5E-5990-48DC-2ED6BE83386D}"/>
              </a:ext>
            </a:extLst>
          </p:cNvPr>
          <p:cNvSpPr txBox="1"/>
          <p:nvPr/>
        </p:nvSpPr>
        <p:spPr>
          <a:xfrm>
            <a:off x="4432640" y="27393"/>
            <a:ext cx="16745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1">
                    <a:lumMod val="76000"/>
                  </a:schemeClr>
                </a:solidFill>
              </a:rPr>
              <a:t>Communication &amp; implementation</a:t>
            </a:r>
            <a:endParaRPr lang="fr-FR">
              <a:solidFill>
                <a:schemeClr val="bg1">
                  <a:lumMod val="76000"/>
                </a:schemeClr>
              </a:solidFill>
            </a:endParaRPr>
          </a:p>
        </p:txBody>
      </p:sp>
      <p:sp>
        <p:nvSpPr>
          <p:cNvPr id="38" name="Circle: Hollow 22">
            <a:extLst>
              <a:ext uri="{FF2B5EF4-FFF2-40B4-BE49-F238E27FC236}">
                <a16:creationId xmlns:a16="http://schemas.microsoft.com/office/drawing/2014/main" id="{13FEF052-8CA5-B8F4-CF3D-EA85B173AD0F}"/>
              </a:ext>
            </a:extLst>
          </p:cNvPr>
          <p:cNvSpPr/>
          <p:nvPr/>
        </p:nvSpPr>
        <p:spPr>
          <a:xfrm>
            <a:off x="6466507" y="117553"/>
            <a:ext cx="342900" cy="342900"/>
          </a:xfrm>
          <a:prstGeom prst="donut">
            <a:avLst>
              <a:gd name="adj" fmla="val 7542"/>
            </a:avLst>
          </a:prstGeom>
          <a:solidFill>
            <a:srgbClr val="7C9ED7"/>
          </a:solidFill>
          <a:ln>
            <a:solidFill>
              <a:srgbClr val="7C9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40" name="TextBox 23">
            <a:extLst>
              <a:ext uri="{FF2B5EF4-FFF2-40B4-BE49-F238E27FC236}">
                <a16:creationId xmlns:a16="http://schemas.microsoft.com/office/drawing/2014/main" id="{50F0C659-592E-C1EA-CA3F-593A7570A2AC}"/>
              </a:ext>
            </a:extLst>
          </p:cNvPr>
          <p:cNvSpPr txBox="1"/>
          <p:nvPr/>
        </p:nvSpPr>
        <p:spPr>
          <a:xfrm>
            <a:off x="6809407" y="126176"/>
            <a:ext cx="1442826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rgbClr val="1279C5"/>
                </a:solidFill>
              </a:rPr>
              <a:t>Lamport clock</a:t>
            </a:r>
            <a:endParaRPr lang="fr-FR">
              <a:solidFill>
                <a:srgbClr val="1279C5"/>
              </a:solidFill>
            </a:endParaRPr>
          </a:p>
        </p:txBody>
      </p:sp>
      <p:sp>
        <p:nvSpPr>
          <p:cNvPr id="42" name="Circle: Hollow 9">
            <a:extLst>
              <a:ext uri="{FF2B5EF4-FFF2-40B4-BE49-F238E27FC236}">
                <a16:creationId xmlns:a16="http://schemas.microsoft.com/office/drawing/2014/main" id="{6E201E1A-B7FF-EEED-4FBF-5D3970D249EA}"/>
              </a:ext>
            </a:extLst>
          </p:cNvPr>
          <p:cNvSpPr/>
          <p:nvPr/>
        </p:nvSpPr>
        <p:spPr>
          <a:xfrm>
            <a:off x="8661019" y="111830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44" name="TextBox 16">
            <a:extLst>
              <a:ext uri="{FF2B5EF4-FFF2-40B4-BE49-F238E27FC236}">
                <a16:creationId xmlns:a16="http://schemas.microsoft.com/office/drawing/2014/main" id="{4A8CC857-03F0-DD1B-65C8-89AF03F53937}"/>
              </a:ext>
            </a:extLst>
          </p:cNvPr>
          <p:cNvSpPr txBox="1"/>
          <p:nvPr/>
        </p:nvSpPr>
        <p:spPr>
          <a:xfrm>
            <a:off x="9003919" y="116531"/>
            <a:ext cx="189616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 err="1">
                <a:solidFill>
                  <a:schemeClr val="bg2">
                    <a:lumMod val="75000"/>
                  </a:schemeClr>
                </a:solidFill>
              </a:rPr>
              <a:t>Results</a:t>
            </a:r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 &amp; Conclusion</a:t>
            </a:r>
            <a:endParaRPr lang="fr-FR" sz="14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7" name="Circle: Hollow 11">
            <a:extLst>
              <a:ext uri="{FF2B5EF4-FFF2-40B4-BE49-F238E27FC236}">
                <a16:creationId xmlns:a16="http://schemas.microsoft.com/office/drawing/2014/main" id="{450A7E47-0B78-AE98-6495-ACD17BED3720}"/>
              </a:ext>
            </a:extLst>
          </p:cNvPr>
          <p:cNvSpPr/>
          <p:nvPr/>
        </p:nvSpPr>
        <p:spPr>
          <a:xfrm>
            <a:off x="2206182" y="111654"/>
            <a:ext cx="342900" cy="342900"/>
          </a:xfrm>
          <a:prstGeom prst="donut">
            <a:avLst>
              <a:gd name="adj" fmla="val 7542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>
                    <a:lumMod val="76000"/>
                  </a:schemeClr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49" name="TextBox 16">
            <a:extLst>
              <a:ext uri="{FF2B5EF4-FFF2-40B4-BE49-F238E27FC236}">
                <a16:creationId xmlns:a16="http://schemas.microsoft.com/office/drawing/2014/main" id="{E542B952-8FE1-FF56-781C-08BB956765D5}"/>
              </a:ext>
            </a:extLst>
          </p:cNvPr>
          <p:cNvSpPr txBox="1"/>
          <p:nvPr/>
        </p:nvSpPr>
        <p:spPr>
          <a:xfrm>
            <a:off x="2526643" y="33293"/>
            <a:ext cx="1295849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>
                <a:solidFill>
                  <a:schemeClr val="bg1">
                    <a:lumMod val="76000"/>
                  </a:schemeClr>
                </a:solidFill>
              </a:rPr>
              <a:t>Sys. </a:t>
            </a:r>
            <a:r>
              <a:rPr lang="fr-FR" sz="1400" err="1">
                <a:solidFill>
                  <a:schemeClr val="bg1">
                    <a:lumMod val="76000"/>
                  </a:schemeClr>
                </a:solidFill>
              </a:rPr>
              <a:t>Overview</a:t>
            </a:r>
            <a:r>
              <a:rPr lang="fr-FR" sz="1400" dirty="0">
                <a:solidFill>
                  <a:schemeClr val="bg1">
                    <a:lumMod val="76000"/>
                  </a:schemeClr>
                </a:solidFill>
              </a:rPr>
              <a:t>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21227769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6FA6BC-EDAF-49B3-DBEE-8B4C09AEC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BEDB49E3-AC52-F576-A209-19596AE3613C}"/>
              </a:ext>
            </a:extLst>
          </p:cNvPr>
          <p:cNvSpPr/>
          <p:nvPr/>
        </p:nvSpPr>
        <p:spPr>
          <a:xfrm>
            <a:off x="850334" y="1432754"/>
            <a:ext cx="10227302" cy="4644180"/>
          </a:xfrm>
          <a:prstGeom prst="roundRect">
            <a:avLst>
              <a:gd name="adj" fmla="val 6886"/>
            </a:avLst>
          </a:prstGeom>
          <a:solidFill>
            <a:srgbClr val="F0F5F3"/>
          </a:solidFill>
          <a:ln>
            <a:noFill/>
          </a:ln>
          <a:effectLst>
            <a:outerShdw blurRad="711200" sx="105000" sy="105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4FC2DF-E4D8-AF25-B51A-BD2E135751F6}"/>
              </a:ext>
            </a:extLst>
          </p:cNvPr>
          <p:cNvSpPr/>
          <p:nvPr/>
        </p:nvSpPr>
        <p:spPr>
          <a:xfrm>
            <a:off x="854356" y="5489178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EAF9ED-02A4-B097-5C50-0B35B9146525}"/>
              </a:ext>
            </a:extLst>
          </p:cNvPr>
          <p:cNvSpPr txBox="1"/>
          <p:nvPr/>
        </p:nvSpPr>
        <p:spPr>
          <a:xfrm>
            <a:off x="11664418" y="6419309"/>
            <a:ext cx="52758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19</a:t>
            </a:r>
            <a:endParaRPr lang="fr-FR" sz="2000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Image 2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18BABB21-6545-8CDE-55CB-6176CA3DD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344" y="2455520"/>
            <a:ext cx="4329415" cy="2911516"/>
          </a:xfrm>
          <a:prstGeom prst="rect">
            <a:avLst/>
          </a:prstGeom>
        </p:spPr>
      </p:pic>
      <p:pic>
        <p:nvPicPr>
          <p:cNvPr id="11" name="Image 10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64541990-D21D-EDBD-19E0-40444CBBA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837" y="2436107"/>
            <a:ext cx="4541617" cy="2931049"/>
          </a:xfrm>
          <a:prstGeom prst="rect">
            <a:avLst/>
          </a:prstGeom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63A12F11-0599-F924-A312-F5DA1C04FF35}"/>
              </a:ext>
            </a:extLst>
          </p:cNvPr>
          <p:cNvCxnSpPr/>
          <p:nvPr/>
        </p:nvCxnSpPr>
        <p:spPr>
          <a:xfrm>
            <a:off x="5870587" y="1820241"/>
            <a:ext cx="14464" cy="3881573"/>
          </a:xfrm>
          <a:prstGeom prst="straightConnector1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5ABFAF25-2567-52E1-F592-0D73387A15F5}"/>
              </a:ext>
            </a:extLst>
          </p:cNvPr>
          <p:cNvSpPr txBox="1"/>
          <p:nvPr/>
        </p:nvSpPr>
        <p:spPr>
          <a:xfrm>
            <a:off x="2545992" y="1820194"/>
            <a:ext cx="141969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b="1" dirty="0">
                <a:ea typeface="+mn-lt"/>
                <a:cs typeface="+mn-lt"/>
              </a:rPr>
              <a:t>On </a:t>
            </a:r>
            <a:r>
              <a:rPr lang="fr-FR" sz="2400" b="1" dirty="0" err="1">
                <a:ea typeface="+mn-lt"/>
                <a:cs typeface="+mn-lt"/>
              </a:rPr>
              <a:t>send</a:t>
            </a:r>
            <a:endParaRPr lang="fr-FR" sz="2400" b="1" dirty="0" err="1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A1FD29F-0E86-87EA-625B-5BC3ED3895CC}"/>
              </a:ext>
            </a:extLst>
          </p:cNvPr>
          <p:cNvSpPr txBox="1"/>
          <p:nvPr/>
        </p:nvSpPr>
        <p:spPr>
          <a:xfrm>
            <a:off x="7445942" y="1820194"/>
            <a:ext cx="194055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b="1"/>
              <a:t>On recieve</a:t>
            </a:r>
            <a:endParaRPr lang="fr-FR" sz="2400" b="1" dirty="0"/>
          </a:p>
        </p:txBody>
      </p:sp>
      <p:sp>
        <p:nvSpPr>
          <p:cNvPr id="32" name="Oval 21">
            <a:extLst>
              <a:ext uri="{FF2B5EF4-FFF2-40B4-BE49-F238E27FC236}">
                <a16:creationId xmlns:a16="http://schemas.microsoft.com/office/drawing/2014/main" id="{41C7AA41-F55B-9D2D-31E1-23937AFACE34}"/>
              </a:ext>
            </a:extLst>
          </p:cNvPr>
          <p:cNvSpPr/>
          <p:nvPr/>
        </p:nvSpPr>
        <p:spPr>
          <a:xfrm>
            <a:off x="6469524" y="117553"/>
            <a:ext cx="342900" cy="342901"/>
          </a:xfrm>
          <a:prstGeom prst="ellipse">
            <a:avLst/>
          </a:prstGeom>
          <a:solidFill>
            <a:srgbClr val="1279C5"/>
          </a:solidFill>
          <a:ln>
            <a:solidFill>
              <a:srgbClr val="7C9ED7"/>
            </a:solidFill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B1E8BBDD-CC4B-17AC-D17A-2730E929833F}"/>
              </a:ext>
            </a:extLst>
          </p:cNvPr>
          <p:cNvGrpSpPr/>
          <p:nvPr/>
        </p:nvGrpSpPr>
        <p:grpSpPr>
          <a:xfrm>
            <a:off x="395683" y="108614"/>
            <a:ext cx="1563491" cy="342902"/>
            <a:chOff x="2401581" y="269029"/>
            <a:chExt cx="1563491" cy="342902"/>
          </a:xfrm>
        </p:grpSpPr>
        <p:sp>
          <p:nvSpPr>
            <p:cNvPr id="34" name="Circle: Hollow 27">
              <a:extLst>
                <a:ext uri="{FF2B5EF4-FFF2-40B4-BE49-F238E27FC236}">
                  <a16:creationId xmlns:a16="http://schemas.microsoft.com/office/drawing/2014/main" id="{BB402B24-02E9-F3E0-8537-E221A4D9DC76}"/>
                </a:ext>
              </a:extLst>
            </p:cNvPr>
            <p:cNvSpPr/>
            <p:nvPr/>
          </p:nvSpPr>
          <p:spPr>
            <a:xfrm>
              <a:off x="2401581" y="269031"/>
              <a:ext cx="342900" cy="342900"/>
            </a:xfrm>
            <a:prstGeom prst="donut">
              <a:avLst>
                <a:gd name="adj" fmla="val 7542"/>
              </a:avLst>
            </a:prstGeom>
            <a:solidFill>
              <a:srgbClr val="D2D5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noProof="0" dirty="0">
                  <a:solidFill>
                    <a:srgbClr val="D2D5D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35" name="TextBox 28">
              <a:extLst>
                <a:ext uri="{FF2B5EF4-FFF2-40B4-BE49-F238E27FC236}">
                  <a16:creationId xmlns:a16="http://schemas.microsoft.com/office/drawing/2014/main" id="{603C583B-FF60-4480-3AEE-B662A0E56FC1}"/>
                </a:ext>
              </a:extLst>
            </p:cNvPr>
            <p:cNvSpPr txBox="1"/>
            <p:nvPr/>
          </p:nvSpPr>
          <p:spPr>
            <a:xfrm>
              <a:off x="2738579" y="269029"/>
              <a:ext cx="12264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rgbClr val="D2D5D3"/>
                  </a:solidFill>
                </a:rPr>
                <a:t>I</a:t>
              </a:r>
              <a:r>
                <a:rPr lang="fr-FR" sz="1400" b="1" dirty="0" err="1">
                  <a:solidFill>
                    <a:srgbClr val="D2D5D3"/>
                  </a:solidFill>
                </a:rPr>
                <a:t>ntroduction</a:t>
              </a:r>
              <a:endParaRPr lang="fr-FR" sz="1400" b="1" noProof="0" dirty="0">
                <a:solidFill>
                  <a:srgbClr val="D2D5D3"/>
                </a:solidFill>
              </a:endParaRPr>
            </a:p>
          </p:txBody>
        </p:sp>
      </p:grpSp>
      <p:sp>
        <p:nvSpPr>
          <p:cNvPr id="38" name="Circle: Hollow 19">
            <a:extLst>
              <a:ext uri="{FF2B5EF4-FFF2-40B4-BE49-F238E27FC236}">
                <a16:creationId xmlns:a16="http://schemas.microsoft.com/office/drawing/2014/main" id="{3A30AFE2-EE82-2B1C-8EE9-D555DDE7EC8B}"/>
              </a:ext>
            </a:extLst>
          </p:cNvPr>
          <p:cNvSpPr/>
          <p:nvPr/>
        </p:nvSpPr>
        <p:spPr>
          <a:xfrm>
            <a:off x="4083037" y="98262"/>
            <a:ext cx="342900" cy="342900"/>
          </a:xfrm>
          <a:prstGeom prst="donut">
            <a:avLst>
              <a:gd name="adj" fmla="val 7542"/>
            </a:avLst>
          </a:prstGeom>
          <a:solidFill>
            <a:srgbClr val="D2D5D3"/>
          </a:solidFill>
          <a:ln>
            <a:solidFill>
              <a:srgbClr val="D2D5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>
                    <a:lumMod val="76000"/>
                  </a:schemeClr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BA9D14B6-17E2-5CC3-BAFD-4FAE972F98EF}"/>
              </a:ext>
            </a:extLst>
          </p:cNvPr>
          <p:cNvSpPr txBox="1"/>
          <p:nvPr/>
        </p:nvSpPr>
        <p:spPr>
          <a:xfrm>
            <a:off x="4432640" y="27393"/>
            <a:ext cx="16745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1">
                    <a:lumMod val="76000"/>
                  </a:schemeClr>
                </a:solidFill>
              </a:rPr>
              <a:t>Communication &amp; implementation</a:t>
            </a:r>
            <a:endParaRPr lang="fr-FR">
              <a:solidFill>
                <a:schemeClr val="bg1">
                  <a:lumMod val="76000"/>
                </a:schemeClr>
              </a:solidFill>
            </a:endParaRPr>
          </a:p>
        </p:txBody>
      </p:sp>
      <p:sp>
        <p:nvSpPr>
          <p:cNvPr id="42" name="Circle: Hollow 22">
            <a:extLst>
              <a:ext uri="{FF2B5EF4-FFF2-40B4-BE49-F238E27FC236}">
                <a16:creationId xmlns:a16="http://schemas.microsoft.com/office/drawing/2014/main" id="{20A3189C-7A7B-6A3B-36EA-74427633E1DA}"/>
              </a:ext>
            </a:extLst>
          </p:cNvPr>
          <p:cNvSpPr/>
          <p:nvPr/>
        </p:nvSpPr>
        <p:spPr>
          <a:xfrm>
            <a:off x="6466507" y="117553"/>
            <a:ext cx="342900" cy="342900"/>
          </a:xfrm>
          <a:prstGeom prst="donut">
            <a:avLst>
              <a:gd name="adj" fmla="val 7542"/>
            </a:avLst>
          </a:prstGeom>
          <a:solidFill>
            <a:srgbClr val="7C9ED7"/>
          </a:solidFill>
          <a:ln>
            <a:solidFill>
              <a:srgbClr val="7C9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AB095E11-C445-41C9-D2CA-D3A4517046FF}"/>
              </a:ext>
            </a:extLst>
          </p:cNvPr>
          <p:cNvSpPr txBox="1"/>
          <p:nvPr/>
        </p:nvSpPr>
        <p:spPr>
          <a:xfrm>
            <a:off x="6809407" y="126176"/>
            <a:ext cx="1442826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rgbClr val="1279C5"/>
                </a:solidFill>
              </a:rPr>
              <a:t>Lamport clock</a:t>
            </a:r>
            <a:endParaRPr lang="fr-FR">
              <a:solidFill>
                <a:srgbClr val="1279C5"/>
              </a:solidFill>
            </a:endParaRPr>
          </a:p>
        </p:txBody>
      </p:sp>
      <p:sp>
        <p:nvSpPr>
          <p:cNvPr id="47" name="Circle: Hollow 9">
            <a:extLst>
              <a:ext uri="{FF2B5EF4-FFF2-40B4-BE49-F238E27FC236}">
                <a16:creationId xmlns:a16="http://schemas.microsoft.com/office/drawing/2014/main" id="{0012F54C-D010-799E-4822-82CB74026EBC}"/>
              </a:ext>
            </a:extLst>
          </p:cNvPr>
          <p:cNvSpPr/>
          <p:nvPr/>
        </p:nvSpPr>
        <p:spPr>
          <a:xfrm>
            <a:off x="8661019" y="111830"/>
            <a:ext cx="342900" cy="342900"/>
          </a:xfrm>
          <a:prstGeom prst="donut">
            <a:avLst>
              <a:gd name="adj" fmla="val 754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49" name="TextBox 16">
            <a:extLst>
              <a:ext uri="{FF2B5EF4-FFF2-40B4-BE49-F238E27FC236}">
                <a16:creationId xmlns:a16="http://schemas.microsoft.com/office/drawing/2014/main" id="{FDD5FFF9-A727-6B55-7C35-F4AD65BE97D7}"/>
              </a:ext>
            </a:extLst>
          </p:cNvPr>
          <p:cNvSpPr txBox="1"/>
          <p:nvPr/>
        </p:nvSpPr>
        <p:spPr>
          <a:xfrm>
            <a:off x="9003919" y="116531"/>
            <a:ext cx="189616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 err="1">
                <a:solidFill>
                  <a:schemeClr val="bg2">
                    <a:lumMod val="75000"/>
                  </a:schemeClr>
                </a:solidFill>
              </a:rPr>
              <a:t>Results</a:t>
            </a:r>
            <a:r>
              <a:rPr lang="fr-FR" sz="1400" dirty="0">
                <a:solidFill>
                  <a:schemeClr val="bg2">
                    <a:lumMod val="75000"/>
                  </a:schemeClr>
                </a:solidFill>
              </a:rPr>
              <a:t> &amp; Conclusion</a:t>
            </a:r>
            <a:endParaRPr lang="fr-FR" sz="14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" name="Circle: Hollow 11">
            <a:extLst>
              <a:ext uri="{FF2B5EF4-FFF2-40B4-BE49-F238E27FC236}">
                <a16:creationId xmlns:a16="http://schemas.microsoft.com/office/drawing/2014/main" id="{0A1CD0A4-2224-DAD3-FB63-1EA32332DC15}"/>
              </a:ext>
            </a:extLst>
          </p:cNvPr>
          <p:cNvSpPr/>
          <p:nvPr/>
        </p:nvSpPr>
        <p:spPr>
          <a:xfrm>
            <a:off x="2206182" y="111654"/>
            <a:ext cx="342900" cy="342900"/>
          </a:xfrm>
          <a:prstGeom prst="donut">
            <a:avLst>
              <a:gd name="adj" fmla="val 7542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>
                    <a:lumMod val="76000"/>
                  </a:schemeClr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55" name="TextBox 16">
            <a:extLst>
              <a:ext uri="{FF2B5EF4-FFF2-40B4-BE49-F238E27FC236}">
                <a16:creationId xmlns:a16="http://schemas.microsoft.com/office/drawing/2014/main" id="{752516EE-AD7A-3DAD-F781-F080B1446F8F}"/>
              </a:ext>
            </a:extLst>
          </p:cNvPr>
          <p:cNvSpPr txBox="1"/>
          <p:nvPr/>
        </p:nvSpPr>
        <p:spPr>
          <a:xfrm>
            <a:off x="2526643" y="33293"/>
            <a:ext cx="1295849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>
                <a:solidFill>
                  <a:schemeClr val="bg1">
                    <a:lumMod val="76000"/>
                  </a:schemeClr>
                </a:solidFill>
              </a:rPr>
              <a:t>Sys. </a:t>
            </a:r>
            <a:r>
              <a:rPr lang="fr-FR" sz="1400" err="1">
                <a:solidFill>
                  <a:schemeClr val="bg1">
                    <a:lumMod val="76000"/>
                  </a:schemeClr>
                </a:solidFill>
              </a:rPr>
              <a:t>Overview</a:t>
            </a:r>
            <a:r>
              <a:rPr lang="fr-FR" sz="1400" dirty="0">
                <a:solidFill>
                  <a:schemeClr val="bg1">
                    <a:lumMod val="76000"/>
                  </a:schemeClr>
                </a:solidFill>
              </a:rPr>
              <a:t>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606901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8D03A-DC65-D081-3B64-6D9AE81BD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7285A8B1-E0B2-78FF-3D64-D8B7F68AADE3}"/>
              </a:ext>
            </a:extLst>
          </p:cNvPr>
          <p:cNvGrpSpPr/>
          <p:nvPr/>
        </p:nvGrpSpPr>
        <p:grpSpPr>
          <a:xfrm>
            <a:off x="3242394" y="2623197"/>
            <a:ext cx="7667131" cy="1013871"/>
            <a:chOff x="3242394" y="2623197"/>
            <a:chExt cx="7667131" cy="101387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23785C6-42DC-95CE-B0A7-3217FD26F5DF}"/>
                </a:ext>
              </a:extLst>
            </p:cNvPr>
            <p:cNvSpPr/>
            <p:nvPr/>
          </p:nvSpPr>
          <p:spPr>
            <a:xfrm>
              <a:off x="3242394" y="2623197"/>
              <a:ext cx="997692" cy="1013871"/>
            </a:xfrm>
            <a:prstGeom prst="ellipse">
              <a:avLst/>
            </a:prstGeom>
            <a:solidFill>
              <a:srgbClr val="F0F5F3"/>
            </a:solidFill>
            <a:ln w="34925">
              <a:solidFill>
                <a:srgbClr val="7C9ED7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4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</a:t>
              </a:r>
              <a:endParaRPr lang="fr-FR" sz="8800" b="1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D6D4436-AC39-ED75-ED37-8CE1B9D84726}"/>
                </a:ext>
              </a:extLst>
            </p:cNvPr>
            <p:cNvSpPr txBox="1"/>
            <p:nvPr/>
          </p:nvSpPr>
          <p:spPr>
            <a:xfrm>
              <a:off x="4496236" y="2745413"/>
              <a:ext cx="6413289" cy="5847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fr-FR" sz="3200" b="1" dirty="0" err="1">
                  <a:latin typeface="Segoe UI"/>
                  <a:cs typeface="Segoe UI"/>
                </a:rPr>
                <a:t>Results</a:t>
              </a:r>
              <a:r>
                <a:rPr lang="fr-FR" sz="3200" b="1" dirty="0">
                  <a:latin typeface="Segoe UI"/>
                  <a:cs typeface="Segoe UI"/>
                </a:rPr>
                <a:t> &amp; </a:t>
              </a:r>
              <a:r>
                <a:rPr lang="fr-FR" sz="3200" b="1" noProof="0" dirty="0">
                  <a:latin typeface="Segoe UI"/>
                  <a:cs typeface="Segoe UI"/>
                </a:rPr>
                <a:t>Conclusion</a:t>
              </a:r>
              <a:endParaRPr lang="fr-FR" sz="3200" dirty="0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DE188336-C7B8-9132-4510-819E22785F06}"/>
              </a:ext>
            </a:extLst>
          </p:cNvPr>
          <p:cNvSpPr/>
          <p:nvPr/>
        </p:nvSpPr>
        <p:spPr>
          <a:xfrm>
            <a:off x="-1838192" y="244529"/>
            <a:ext cx="2657476" cy="2628900"/>
          </a:xfrm>
          <a:prstGeom prst="ellipse">
            <a:avLst/>
          </a:prstGeom>
          <a:solidFill>
            <a:srgbClr val="1279C5"/>
          </a:solidFill>
          <a:ln>
            <a:noFill/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C4BFF6-621A-6F9D-2115-06624AAC534E}"/>
              </a:ext>
            </a:extLst>
          </p:cNvPr>
          <p:cNvSpPr txBox="1"/>
          <p:nvPr/>
        </p:nvSpPr>
        <p:spPr>
          <a:xfrm>
            <a:off x="11645128" y="6457890"/>
            <a:ext cx="54687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20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0086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B781C-5663-0DB4-76D2-BAE9720A4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1814F78A-C1EC-EC14-192F-6D4B85C25821}"/>
              </a:ext>
            </a:extLst>
          </p:cNvPr>
          <p:cNvSpPr/>
          <p:nvPr/>
        </p:nvSpPr>
        <p:spPr>
          <a:xfrm>
            <a:off x="850334" y="1432754"/>
            <a:ext cx="10227302" cy="4644180"/>
          </a:xfrm>
          <a:prstGeom prst="roundRect">
            <a:avLst>
              <a:gd name="adj" fmla="val 6886"/>
            </a:avLst>
          </a:prstGeom>
          <a:solidFill>
            <a:srgbClr val="F0F5F3"/>
          </a:solidFill>
          <a:ln>
            <a:noFill/>
          </a:ln>
          <a:effectLst>
            <a:outerShdw blurRad="711200" sx="105000" sy="105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7B3DC6-C9BA-8E66-DE86-E55876633F64}"/>
              </a:ext>
            </a:extLst>
          </p:cNvPr>
          <p:cNvSpPr/>
          <p:nvPr/>
        </p:nvSpPr>
        <p:spPr>
          <a:xfrm>
            <a:off x="854356" y="5489178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0B98A1-43F3-19C2-2F4D-8386C55E9A82}"/>
              </a:ext>
            </a:extLst>
          </p:cNvPr>
          <p:cNvSpPr txBox="1"/>
          <p:nvPr/>
        </p:nvSpPr>
        <p:spPr>
          <a:xfrm>
            <a:off x="11703001" y="6428954"/>
            <a:ext cx="48899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21</a:t>
            </a:r>
            <a:endParaRPr lang="fr-FR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8C9C44E-0E27-DFD9-FA1F-7ED3A33A6024}"/>
              </a:ext>
            </a:extLst>
          </p:cNvPr>
          <p:cNvGrpSpPr/>
          <p:nvPr/>
        </p:nvGrpSpPr>
        <p:grpSpPr>
          <a:xfrm>
            <a:off x="2089950" y="2732305"/>
            <a:ext cx="6732681" cy="612048"/>
            <a:chOff x="2089950" y="2732305"/>
            <a:chExt cx="6732681" cy="61204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0D9EFAF-F02D-3218-E5E0-FEBBF4C8E504}"/>
                </a:ext>
              </a:extLst>
            </p:cNvPr>
            <p:cNvSpPr txBox="1"/>
            <p:nvPr/>
          </p:nvSpPr>
          <p:spPr>
            <a:xfrm>
              <a:off x="2795689" y="2743984"/>
              <a:ext cx="6026942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>
                  <a:ea typeface="+mn-lt"/>
                  <a:cs typeface="+mn-lt"/>
                </a:rPr>
                <a:t>Correct </a:t>
              </a:r>
              <a:r>
                <a:rPr lang="fr-FR" sz="2400" dirty="0" err="1">
                  <a:ea typeface="+mn-lt"/>
                  <a:cs typeface="+mn-lt"/>
                </a:rPr>
                <a:t>private</a:t>
              </a:r>
              <a:r>
                <a:rPr lang="fr-FR" sz="2400" dirty="0">
                  <a:ea typeface="+mn-lt"/>
                  <a:cs typeface="+mn-lt"/>
                </a:rPr>
                <a:t> message </a:t>
              </a:r>
              <a:r>
                <a:rPr lang="fr-FR" sz="2400" dirty="0" err="1">
                  <a:ea typeface="+mn-lt"/>
                  <a:cs typeface="+mn-lt"/>
                </a:rPr>
                <a:t>delivery</a:t>
              </a:r>
              <a:endParaRPr lang="fr-FR" dirty="0" err="1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A3EC484-603E-A9BF-9110-E4B86B589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9950" y="2732305"/>
              <a:ext cx="612048" cy="612048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91A370D-0CDD-7078-30BE-2EDD21DDB796}"/>
              </a:ext>
            </a:extLst>
          </p:cNvPr>
          <p:cNvGrpSpPr/>
          <p:nvPr/>
        </p:nvGrpSpPr>
        <p:grpSpPr>
          <a:xfrm>
            <a:off x="2089950" y="3711886"/>
            <a:ext cx="8380834" cy="612048"/>
            <a:chOff x="2089950" y="3711886"/>
            <a:chExt cx="8380834" cy="61204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E8AFC4A-B39C-DABC-3FA1-5C4ED196AEE5}"/>
                </a:ext>
              </a:extLst>
            </p:cNvPr>
            <p:cNvSpPr txBox="1"/>
            <p:nvPr/>
          </p:nvSpPr>
          <p:spPr>
            <a:xfrm>
              <a:off x="2799680" y="3756740"/>
              <a:ext cx="7671104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 err="1">
                  <a:ea typeface="+mn-lt"/>
                  <a:cs typeface="+mn-lt"/>
                </a:rPr>
                <a:t>Proper</a:t>
              </a:r>
              <a:r>
                <a:rPr lang="fr-FR" sz="2400" dirty="0">
                  <a:ea typeface="+mn-lt"/>
                  <a:cs typeface="+mn-lt"/>
                </a:rPr>
                <a:t> </a:t>
              </a:r>
              <a:r>
                <a:rPr lang="fr-FR" sz="2400" dirty="0" err="1">
                  <a:ea typeface="+mn-lt"/>
                  <a:cs typeface="+mn-lt"/>
                </a:rPr>
                <a:t>Lamport</a:t>
              </a:r>
              <a:r>
                <a:rPr lang="fr-FR" sz="2400" dirty="0">
                  <a:ea typeface="+mn-lt"/>
                  <a:cs typeface="+mn-lt"/>
                </a:rPr>
                <a:t> </a:t>
              </a:r>
              <a:r>
                <a:rPr lang="fr-FR" sz="2400" dirty="0" err="1">
                  <a:ea typeface="+mn-lt"/>
                  <a:cs typeface="+mn-lt"/>
                </a:rPr>
                <a:t>clock</a:t>
              </a:r>
              <a:r>
                <a:rPr lang="fr-FR" sz="2400" dirty="0">
                  <a:ea typeface="+mn-lt"/>
                  <a:cs typeface="+mn-lt"/>
                </a:rPr>
                <a:t> updates on </a:t>
              </a:r>
              <a:r>
                <a:rPr lang="fr-FR" sz="2400" dirty="0" err="1">
                  <a:ea typeface="+mn-lt"/>
                  <a:cs typeface="+mn-lt"/>
                </a:rPr>
                <a:t>send</a:t>
              </a:r>
              <a:r>
                <a:rPr lang="fr-FR" sz="2400" dirty="0">
                  <a:ea typeface="+mn-lt"/>
                  <a:cs typeface="+mn-lt"/>
                </a:rPr>
                <a:t> and </a:t>
              </a:r>
              <a:r>
                <a:rPr lang="fr-FR" sz="2400" dirty="0" err="1">
                  <a:ea typeface="+mn-lt"/>
                  <a:cs typeface="+mn-lt"/>
                </a:rPr>
                <a:t>receive</a:t>
              </a:r>
              <a:endParaRPr lang="fr-FR" dirty="0" err="1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FA10822-B4E6-106A-C0D0-D9C99C2FB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9950" y="3711886"/>
              <a:ext cx="612048" cy="612048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3077438-8A12-7375-5782-ECD3466AAEA9}"/>
              </a:ext>
            </a:extLst>
          </p:cNvPr>
          <p:cNvGrpSpPr/>
          <p:nvPr/>
        </p:nvGrpSpPr>
        <p:grpSpPr>
          <a:xfrm>
            <a:off x="2091057" y="4684209"/>
            <a:ext cx="6608841" cy="612048"/>
            <a:chOff x="2091057" y="4684209"/>
            <a:chExt cx="6608841" cy="61204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61BC54E-CF8B-EB55-41C1-7B9E0DCC269B}"/>
                </a:ext>
              </a:extLst>
            </p:cNvPr>
            <p:cNvSpPr txBox="1"/>
            <p:nvPr/>
          </p:nvSpPr>
          <p:spPr>
            <a:xfrm>
              <a:off x="2826910" y="4759400"/>
              <a:ext cx="587298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/>
                <a:t>Causal </a:t>
              </a:r>
              <a:r>
                <a:rPr lang="fr-FR" sz="2400" dirty="0" err="1"/>
                <a:t>ordering</a:t>
              </a:r>
              <a:r>
                <a:rPr lang="fr-FR" sz="2400" dirty="0"/>
                <a:t> </a:t>
              </a:r>
              <a:r>
                <a:rPr lang="fr-FR" sz="2400" dirty="0" err="1"/>
                <a:t>preserved</a:t>
              </a:r>
              <a:endParaRPr lang="fr-FR" dirty="0" err="1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218C11A-08D2-9D24-F63A-13092E64B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91057" y="4684209"/>
              <a:ext cx="612048" cy="612048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D9CC1E8-4D67-716C-1FD2-5FEBD26B44CA}"/>
              </a:ext>
            </a:extLst>
          </p:cNvPr>
          <p:cNvSpPr txBox="1"/>
          <p:nvPr/>
        </p:nvSpPr>
        <p:spPr>
          <a:xfrm>
            <a:off x="1323600" y="1874581"/>
            <a:ext cx="399931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FR" sz="2800" b="1" dirty="0" err="1">
                <a:ea typeface="+mn-lt"/>
                <a:cs typeface="+mn-lt"/>
              </a:rPr>
              <a:t>Observed</a:t>
            </a:r>
            <a:r>
              <a:rPr lang="fr-FR" sz="2800" b="1" dirty="0">
                <a:ea typeface="+mn-lt"/>
                <a:cs typeface="+mn-lt"/>
              </a:rPr>
              <a:t> </a:t>
            </a:r>
            <a:r>
              <a:rPr lang="fr-FR" sz="2800" b="1" dirty="0" err="1">
                <a:ea typeface="+mn-lt"/>
                <a:cs typeface="+mn-lt"/>
              </a:rPr>
              <a:t>behavior</a:t>
            </a:r>
            <a:r>
              <a:rPr lang="fr-FR" sz="2800" b="1" dirty="0">
                <a:ea typeface="+mn-lt"/>
                <a:cs typeface="+mn-lt"/>
              </a:rPr>
              <a:t>:</a:t>
            </a:r>
            <a:endParaRPr lang="fr-FR" dirty="0"/>
          </a:p>
        </p:txBody>
      </p:sp>
      <p:sp>
        <p:nvSpPr>
          <p:cNvPr id="5" name="Oval 21">
            <a:extLst>
              <a:ext uri="{FF2B5EF4-FFF2-40B4-BE49-F238E27FC236}">
                <a16:creationId xmlns:a16="http://schemas.microsoft.com/office/drawing/2014/main" id="{1BBDC616-E8B2-E50A-414F-C51C83C26578}"/>
              </a:ext>
            </a:extLst>
          </p:cNvPr>
          <p:cNvSpPr/>
          <p:nvPr/>
        </p:nvSpPr>
        <p:spPr>
          <a:xfrm>
            <a:off x="8668714" y="107907"/>
            <a:ext cx="342900" cy="342901"/>
          </a:xfrm>
          <a:prstGeom prst="ellipse">
            <a:avLst/>
          </a:prstGeom>
          <a:solidFill>
            <a:srgbClr val="1279C5"/>
          </a:solidFill>
          <a:ln>
            <a:solidFill>
              <a:srgbClr val="7C9ED7"/>
            </a:solidFill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4" name="Group 26">
            <a:extLst>
              <a:ext uri="{FF2B5EF4-FFF2-40B4-BE49-F238E27FC236}">
                <a16:creationId xmlns:a16="http://schemas.microsoft.com/office/drawing/2014/main" id="{30C9B896-3C9E-615A-F099-2221F5FD490F}"/>
              </a:ext>
            </a:extLst>
          </p:cNvPr>
          <p:cNvGrpSpPr/>
          <p:nvPr/>
        </p:nvGrpSpPr>
        <p:grpSpPr>
          <a:xfrm>
            <a:off x="395683" y="108614"/>
            <a:ext cx="1563491" cy="342902"/>
            <a:chOff x="2401581" y="269029"/>
            <a:chExt cx="1563491" cy="342902"/>
          </a:xfrm>
        </p:grpSpPr>
        <p:sp>
          <p:nvSpPr>
            <p:cNvPr id="7" name="Circle: Hollow 27">
              <a:extLst>
                <a:ext uri="{FF2B5EF4-FFF2-40B4-BE49-F238E27FC236}">
                  <a16:creationId xmlns:a16="http://schemas.microsoft.com/office/drawing/2014/main" id="{89A4DC35-5034-7223-19DC-1923E82F456C}"/>
                </a:ext>
              </a:extLst>
            </p:cNvPr>
            <p:cNvSpPr/>
            <p:nvPr/>
          </p:nvSpPr>
          <p:spPr>
            <a:xfrm>
              <a:off x="2401581" y="269031"/>
              <a:ext cx="342900" cy="342900"/>
            </a:xfrm>
            <a:prstGeom prst="donut">
              <a:avLst>
                <a:gd name="adj" fmla="val 7542"/>
              </a:avLst>
            </a:prstGeom>
            <a:solidFill>
              <a:srgbClr val="D2D5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noProof="0" dirty="0">
                  <a:solidFill>
                    <a:srgbClr val="D2D5D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9" name="TextBox 28">
              <a:extLst>
                <a:ext uri="{FF2B5EF4-FFF2-40B4-BE49-F238E27FC236}">
                  <a16:creationId xmlns:a16="http://schemas.microsoft.com/office/drawing/2014/main" id="{3E8AF432-50B4-6E74-562A-F02A1BCAD7CE}"/>
                </a:ext>
              </a:extLst>
            </p:cNvPr>
            <p:cNvSpPr txBox="1"/>
            <p:nvPr/>
          </p:nvSpPr>
          <p:spPr>
            <a:xfrm>
              <a:off x="2738579" y="269029"/>
              <a:ext cx="12264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rgbClr val="D2D5D3"/>
                  </a:solidFill>
                </a:rPr>
                <a:t>I</a:t>
              </a:r>
              <a:r>
                <a:rPr lang="fr-FR" sz="1400" b="1" dirty="0" err="1">
                  <a:solidFill>
                    <a:srgbClr val="D2D5D3"/>
                  </a:solidFill>
                </a:rPr>
                <a:t>ntroduction</a:t>
              </a:r>
              <a:endParaRPr lang="fr-FR" sz="1400" b="1" noProof="0" dirty="0">
                <a:solidFill>
                  <a:srgbClr val="D2D5D3"/>
                </a:solidFill>
              </a:endParaRPr>
            </a:p>
          </p:txBody>
        </p:sp>
      </p:grpSp>
      <p:sp>
        <p:nvSpPr>
          <p:cNvPr id="33" name="Circle: Hollow 19">
            <a:extLst>
              <a:ext uri="{FF2B5EF4-FFF2-40B4-BE49-F238E27FC236}">
                <a16:creationId xmlns:a16="http://schemas.microsoft.com/office/drawing/2014/main" id="{C375AE99-733F-6A5A-8DB8-E5D26931B743}"/>
              </a:ext>
            </a:extLst>
          </p:cNvPr>
          <p:cNvSpPr/>
          <p:nvPr/>
        </p:nvSpPr>
        <p:spPr>
          <a:xfrm>
            <a:off x="4083037" y="98262"/>
            <a:ext cx="342900" cy="342900"/>
          </a:xfrm>
          <a:prstGeom prst="donut">
            <a:avLst>
              <a:gd name="adj" fmla="val 7542"/>
            </a:avLst>
          </a:prstGeom>
          <a:solidFill>
            <a:srgbClr val="D2D5D3"/>
          </a:solidFill>
          <a:ln>
            <a:solidFill>
              <a:srgbClr val="D2D5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>
                    <a:lumMod val="76000"/>
                  </a:schemeClr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35" name="TextBox 20">
            <a:extLst>
              <a:ext uri="{FF2B5EF4-FFF2-40B4-BE49-F238E27FC236}">
                <a16:creationId xmlns:a16="http://schemas.microsoft.com/office/drawing/2014/main" id="{E9B056C4-D7F8-1AC1-EEE6-170711002538}"/>
              </a:ext>
            </a:extLst>
          </p:cNvPr>
          <p:cNvSpPr txBox="1"/>
          <p:nvPr/>
        </p:nvSpPr>
        <p:spPr>
          <a:xfrm>
            <a:off x="4432640" y="27393"/>
            <a:ext cx="16745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1">
                    <a:lumMod val="76000"/>
                  </a:schemeClr>
                </a:solidFill>
              </a:rPr>
              <a:t>Communication &amp; implementation</a:t>
            </a:r>
            <a:endParaRPr lang="fr-FR">
              <a:solidFill>
                <a:schemeClr val="bg1">
                  <a:lumMod val="76000"/>
                </a:schemeClr>
              </a:solidFill>
            </a:endParaRPr>
          </a:p>
        </p:txBody>
      </p:sp>
      <p:sp>
        <p:nvSpPr>
          <p:cNvPr id="37" name="Circle: Hollow 22">
            <a:extLst>
              <a:ext uri="{FF2B5EF4-FFF2-40B4-BE49-F238E27FC236}">
                <a16:creationId xmlns:a16="http://schemas.microsoft.com/office/drawing/2014/main" id="{B4BB06B4-C22F-EE2F-AE7A-55ECC234A9CC}"/>
              </a:ext>
            </a:extLst>
          </p:cNvPr>
          <p:cNvSpPr/>
          <p:nvPr/>
        </p:nvSpPr>
        <p:spPr>
          <a:xfrm>
            <a:off x="6456861" y="127198"/>
            <a:ext cx="342900" cy="342900"/>
          </a:xfrm>
          <a:prstGeom prst="donut">
            <a:avLst>
              <a:gd name="adj" fmla="val 7542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rgbClr val="D2D5D3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39" name="TextBox 23">
            <a:extLst>
              <a:ext uri="{FF2B5EF4-FFF2-40B4-BE49-F238E27FC236}">
                <a16:creationId xmlns:a16="http://schemas.microsoft.com/office/drawing/2014/main" id="{7D5FB63B-50FA-0586-8E45-6AE54ED02F15}"/>
              </a:ext>
            </a:extLst>
          </p:cNvPr>
          <p:cNvSpPr txBox="1"/>
          <p:nvPr/>
        </p:nvSpPr>
        <p:spPr>
          <a:xfrm>
            <a:off x="6809407" y="126176"/>
            <a:ext cx="1442826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rgbClr val="D2D5D3"/>
                </a:solidFill>
              </a:rPr>
              <a:t>Lamport clock</a:t>
            </a:r>
            <a:endParaRPr lang="fr-FR">
              <a:solidFill>
                <a:srgbClr val="D2D5D3"/>
              </a:solidFill>
            </a:endParaRPr>
          </a:p>
        </p:txBody>
      </p:sp>
      <p:sp>
        <p:nvSpPr>
          <p:cNvPr id="41" name="Circle: Hollow 9">
            <a:extLst>
              <a:ext uri="{FF2B5EF4-FFF2-40B4-BE49-F238E27FC236}">
                <a16:creationId xmlns:a16="http://schemas.microsoft.com/office/drawing/2014/main" id="{BFE6DB42-4773-6A98-31FA-0971EC8BAB21}"/>
              </a:ext>
            </a:extLst>
          </p:cNvPr>
          <p:cNvSpPr/>
          <p:nvPr/>
        </p:nvSpPr>
        <p:spPr>
          <a:xfrm>
            <a:off x="8661019" y="111830"/>
            <a:ext cx="342900" cy="342900"/>
          </a:xfrm>
          <a:prstGeom prst="donut">
            <a:avLst>
              <a:gd name="adj" fmla="val 7542"/>
            </a:avLst>
          </a:prstGeom>
          <a:solidFill>
            <a:srgbClr val="7C9ED7"/>
          </a:solidFill>
          <a:ln>
            <a:solidFill>
              <a:srgbClr val="7C9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639491A2-DCC4-923E-1AB2-5B251884D536}"/>
              </a:ext>
            </a:extLst>
          </p:cNvPr>
          <p:cNvSpPr txBox="1"/>
          <p:nvPr/>
        </p:nvSpPr>
        <p:spPr>
          <a:xfrm>
            <a:off x="9003919" y="116531"/>
            <a:ext cx="189616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 err="1">
                <a:solidFill>
                  <a:srgbClr val="1279C5"/>
                </a:solidFill>
              </a:rPr>
              <a:t>Results</a:t>
            </a:r>
            <a:r>
              <a:rPr lang="fr-FR" sz="1400" dirty="0">
                <a:solidFill>
                  <a:srgbClr val="1279C5"/>
                </a:solidFill>
              </a:rPr>
              <a:t> &amp; Conclusion</a:t>
            </a:r>
            <a:endParaRPr lang="fr-FR" sz="1400" noProof="0" dirty="0">
              <a:solidFill>
                <a:srgbClr val="1279C5"/>
              </a:solidFill>
            </a:endParaRPr>
          </a:p>
        </p:txBody>
      </p:sp>
      <p:sp>
        <p:nvSpPr>
          <p:cNvPr id="45" name="Circle: Hollow 11">
            <a:extLst>
              <a:ext uri="{FF2B5EF4-FFF2-40B4-BE49-F238E27FC236}">
                <a16:creationId xmlns:a16="http://schemas.microsoft.com/office/drawing/2014/main" id="{B234D2BD-19C6-7AE1-B0B5-56EF533B34BA}"/>
              </a:ext>
            </a:extLst>
          </p:cNvPr>
          <p:cNvSpPr/>
          <p:nvPr/>
        </p:nvSpPr>
        <p:spPr>
          <a:xfrm>
            <a:off x="2206182" y="111654"/>
            <a:ext cx="342900" cy="342900"/>
          </a:xfrm>
          <a:prstGeom prst="donut">
            <a:avLst>
              <a:gd name="adj" fmla="val 7542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>
                    <a:lumMod val="76000"/>
                  </a:schemeClr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47" name="TextBox 16">
            <a:extLst>
              <a:ext uri="{FF2B5EF4-FFF2-40B4-BE49-F238E27FC236}">
                <a16:creationId xmlns:a16="http://schemas.microsoft.com/office/drawing/2014/main" id="{DA6A5D18-C927-A441-20C5-F61A9C02B420}"/>
              </a:ext>
            </a:extLst>
          </p:cNvPr>
          <p:cNvSpPr txBox="1"/>
          <p:nvPr/>
        </p:nvSpPr>
        <p:spPr>
          <a:xfrm>
            <a:off x="2526643" y="33293"/>
            <a:ext cx="1295849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>
                <a:solidFill>
                  <a:schemeClr val="bg1">
                    <a:lumMod val="76000"/>
                  </a:schemeClr>
                </a:solidFill>
              </a:rPr>
              <a:t>Sys. </a:t>
            </a:r>
            <a:r>
              <a:rPr lang="fr-FR" sz="1400" err="1">
                <a:solidFill>
                  <a:schemeClr val="bg1">
                    <a:lumMod val="76000"/>
                  </a:schemeClr>
                </a:solidFill>
              </a:rPr>
              <a:t>Overview</a:t>
            </a:r>
            <a:r>
              <a:rPr lang="fr-FR" sz="1400" dirty="0">
                <a:solidFill>
                  <a:schemeClr val="bg1">
                    <a:lumMod val="76000"/>
                  </a:schemeClr>
                </a:solidFill>
              </a:rPr>
              <a:t>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3806603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927E1A-78A1-749E-0B69-B48AD8610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CDF6184-1D13-8223-390C-CBEB5DC077D4}"/>
              </a:ext>
            </a:extLst>
          </p:cNvPr>
          <p:cNvSpPr/>
          <p:nvPr/>
        </p:nvSpPr>
        <p:spPr>
          <a:xfrm>
            <a:off x="850334" y="1432754"/>
            <a:ext cx="10227302" cy="4644180"/>
          </a:xfrm>
          <a:prstGeom prst="roundRect">
            <a:avLst>
              <a:gd name="adj" fmla="val 6886"/>
            </a:avLst>
          </a:prstGeom>
          <a:solidFill>
            <a:srgbClr val="F0F5F3"/>
          </a:solidFill>
          <a:ln>
            <a:noFill/>
          </a:ln>
          <a:effectLst>
            <a:outerShdw blurRad="711200" sx="105000" sy="105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AFF6711-FEC0-4C8D-041A-9CA23FEDD5A3}"/>
              </a:ext>
            </a:extLst>
          </p:cNvPr>
          <p:cNvSpPr/>
          <p:nvPr/>
        </p:nvSpPr>
        <p:spPr>
          <a:xfrm>
            <a:off x="854356" y="5489178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04B489-5A85-C469-258D-FB659ED1FD8D}"/>
              </a:ext>
            </a:extLst>
          </p:cNvPr>
          <p:cNvSpPr txBox="1"/>
          <p:nvPr/>
        </p:nvSpPr>
        <p:spPr>
          <a:xfrm>
            <a:off x="11703001" y="6428954"/>
            <a:ext cx="48899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Segoe UI"/>
                <a:cs typeface="Segoe UI"/>
              </a:rPr>
              <a:t>22</a:t>
            </a:r>
            <a:endParaRPr lang="fr-FR" dirty="0"/>
          </a:p>
        </p:txBody>
      </p: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22796375-018B-A115-552C-D9A31A09A28B}"/>
              </a:ext>
            </a:extLst>
          </p:cNvPr>
          <p:cNvGrpSpPr/>
          <p:nvPr/>
        </p:nvGrpSpPr>
        <p:grpSpPr>
          <a:xfrm>
            <a:off x="2221977" y="2578803"/>
            <a:ext cx="7333718" cy="841938"/>
            <a:chOff x="2221977" y="2578803"/>
            <a:chExt cx="7333718" cy="841938"/>
          </a:xfrm>
        </p:grpSpPr>
        <p:pic>
          <p:nvPicPr>
            <p:cNvPr id="2" name="Image 1" descr="Une image contenant Graphique, cercle, Caractère coloré, symbole&#10;&#10;Le contenu généré par l’IA peut être incorrect.">
              <a:extLst>
                <a:ext uri="{FF2B5EF4-FFF2-40B4-BE49-F238E27FC236}">
                  <a16:creationId xmlns:a16="http://schemas.microsoft.com/office/drawing/2014/main" id="{C3DE1C73-71F4-A537-67EE-E4C624729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1977" y="2578803"/>
              <a:ext cx="822527" cy="841938"/>
            </a:xfrm>
            <a:prstGeom prst="rect">
              <a:avLst/>
            </a:prstGeom>
          </p:spPr>
        </p:pic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7D039054-FB7A-9071-D95A-0189CF573AF9}"/>
                </a:ext>
              </a:extLst>
            </p:cNvPr>
            <p:cNvSpPr txBox="1"/>
            <p:nvPr/>
          </p:nvSpPr>
          <p:spPr>
            <a:xfrm>
              <a:off x="3345487" y="2580009"/>
              <a:ext cx="6210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>
                  <a:ea typeface="+mn-lt"/>
                  <a:cs typeface="+mn-lt"/>
                </a:rPr>
                <a:t>The project validates the practical use of Lamport clocks</a:t>
              </a:r>
              <a:endParaRPr lang="fr-FR"/>
            </a:p>
          </p:txBody>
        </p:sp>
      </p:grp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98B82E26-8A1B-5705-767F-07BFD97B6647}"/>
              </a:ext>
            </a:extLst>
          </p:cNvPr>
          <p:cNvGrpSpPr/>
          <p:nvPr/>
        </p:nvGrpSpPr>
        <p:grpSpPr>
          <a:xfrm>
            <a:off x="2212333" y="3958119"/>
            <a:ext cx="7922095" cy="832292"/>
            <a:chOff x="2212333" y="3958119"/>
            <a:chExt cx="7922095" cy="832292"/>
          </a:xfrm>
        </p:grpSpPr>
        <p:pic>
          <p:nvPicPr>
            <p:cNvPr id="5" name="Image 4" descr="Une image contenant Graphique, cercle, Caractère coloré, symbole&#10;&#10;Le contenu généré par l’IA peut être incorrect.">
              <a:extLst>
                <a:ext uri="{FF2B5EF4-FFF2-40B4-BE49-F238E27FC236}">
                  <a16:creationId xmlns:a16="http://schemas.microsoft.com/office/drawing/2014/main" id="{EEC3BB19-0388-6FBB-2B1B-1281F6AC6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2333" y="3958119"/>
              <a:ext cx="832172" cy="832292"/>
            </a:xfrm>
            <a:prstGeom prst="rect">
              <a:avLst/>
            </a:prstGeom>
          </p:spPr>
        </p:pic>
        <p:sp>
          <p:nvSpPr>
            <p:cNvPr id="9" name="TextBox 2">
              <a:extLst>
                <a:ext uri="{FF2B5EF4-FFF2-40B4-BE49-F238E27FC236}">
                  <a16:creationId xmlns:a16="http://schemas.microsoft.com/office/drawing/2014/main" id="{4072B0AB-0ADC-200D-031A-FBB83DAB3565}"/>
                </a:ext>
              </a:extLst>
            </p:cNvPr>
            <p:cNvSpPr txBox="1"/>
            <p:nvPr/>
          </p:nvSpPr>
          <p:spPr>
            <a:xfrm>
              <a:off x="3345486" y="3959325"/>
              <a:ext cx="6788942" cy="830997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fr-FR" sz="2400" dirty="0" err="1">
                  <a:ea typeface="+mn-lt"/>
                  <a:cs typeface="+mn-lt"/>
                </a:rPr>
                <a:t>Demonstrates</a:t>
              </a:r>
              <a:r>
                <a:rPr lang="fr-FR" sz="2400" dirty="0">
                  <a:ea typeface="+mn-lt"/>
                  <a:cs typeface="+mn-lt"/>
                </a:rPr>
                <a:t> a correct and reliable </a:t>
              </a:r>
              <a:r>
                <a:rPr lang="fr-FR" sz="2400" dirty="0" err="1">
                  <a:ea typeface="+mn-lt"/>
                  <a:cs typeface="+mn-lt"/>
                </a:rPr>
                <a:t>distributed</a:t>
              </a:r>
              <a:r>
                <a:rPr lang="fr-FR" sz="2400" dirty="0">
                  <a:ea typeface="+mn-lt"/>
                  <a:cs typeface="+mn-lt"/>
                </a:rPr>
                <a:t> chat system</a:t>
              </a:r>
              <a:endParaRPr lang="fr-FR" dirty="0"/>
            </a:p>
          </p:txBody>
        </p:sp>
      </p:grpSp>
      <p:sp>
        <p:nvSpPr>
          <p:cNvPr id="25" name="Oval 21">
            <a:extLst>
              <a:ext uri="{FF2B5EF4-FFF2-40B4-BE49-F238E27FC236}">
                <a16:creationId xmlns:a16="http://schemas.microsoft.com/office/drawing/2014/main" id="{FF75C18C-0787-6236-0E85-5F2AC6427A87}"/>
              </a:ext>
            </a:extLst>
          </p:cNvPr>
          <p:cNvSpPr/>
          <p:nvPr/>
        </p:nvSpPr>
        <p:spPr>
          <a:xfrm>
            <a:off x="8668714" y="107907"/>
            <a:ext cx="342900" cy="342901"/>
          </a:xfrm>
          <a:prstGeom prst="ellipse">
            <a:avLst/>
          </a:prstGeom>
          <a:solidFill>
            <a:srgbClr val="1279C5"/>
          </a:solidFill>
          <a:ln>
            <a:solidFill>
              <a:srgbClr val="7C9ED7"/>
            </a:solidFill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6DC9ABEB-5079-9DA5-A7BC-941CEEC5258D}"/>
              </a:ext>
            </a:extLst>
          </p:cNvPr>
          <p:cNvGrpSpPr/>
          <p:nvPr/>
        </p:nvGrpSpPr>
        <p:grpSpPr>
          <a:xfrm>
            <a:off x="395683" y="108614"/>
            <a:ext cx="1563491" cy="342902"/>
            <a:chOff x="2401581" y="269029"/>
            <a:chExt cx="1563491" cy="342902"/>
          </a:xfrm>
        </p:grpSpPr>
        <p:sp>
          <p:nvSpPr>
            <p:cNvPr id="34" name="Circle: Hollow 27">
              <a:extLst>
                <a:ext uri="{FF2B5EF4-FFF2-40B4-BE49-F238E27FC236}">
                  <a16:creationId xmlns:a16="http://schemas.microsoft.com/office/drawing/2014/main" id="{52C3D363-E73E-B9CF-364F-A789C188AF75}"/>
                </a:ext>
              </a:extLst>
            </p:cNvPr>
            <p:cNvSpPr/>
            <p:nvPr/>
          </p:nvSpPr>
          <p:spPr>
            <a:xfrm>
              <a:off x="2401581" y="269031"/>
              <a:ext cx="342900" cy="342900"/>
            </a:xfrm>
            <a:prstGeom prst="donut">
              <a:avLst>
                <a:gd name="adj" fmla="val 7542"/>
              </a:avLst>
            </a:prstGeom>
            <a:solidFill>
              <a:srgbClr val="D2D5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noProof="0" dirty="0">
                  <a:solidFill>
                    <a:srgbClr val="D2D5D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35" name="TextBox 28">
              <a:extLst>
                <a:ext uri="{FF2B5EF4-FFF2-40B4-BE49-F238E27FC236}">
                  <a16:creationId xmlns:a16="http://schemas.microsoft.com/office/drawing/2014/main" id="{49E02B6A-84D7-DE30-A60F-E96E37CFD71F}"/>
                </a:ext>
              </a:extLst>
            </p:cNvPr>
            <p:cNvSpPr txBox="1"/>
            <p:nvPr/>
          </p:nvSpPr>
          <p:spPr>
            <a:xfrm>
              <a:off x="2738579" y="269029"/>
              <a:ext cx="12264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rgbClr val="D2D5D3"/>
                  </a:solidFill>
                </a:rPr>
                <a:t>I</a:t>
              </a:r>
              <a:r>
                <a:rPr lang="fr-FR" sz="1400" b="1" dirty="0" err="1">
                  <a:solidFill>
                    <a:srgbClr val="D2D5D3"/>
                  </a:solidFill>
                </a:rPr>
                <a:t>ntroduction</a:t>
              </a:r>
              <a:endParaRPr lang="fr-FR" sz="1400" b="1" noProof="0" dirty="0">
                <a:solidFill>
                  <a:srgbClr val="D2D5D3"/>
                </a:solidFill>
              </a:endParaRPr>
            </a:p>
          </p:txBody>
        </p:sp>
      </p:grpSp>
      <p:sp>
        <p:nvSpPr>
          <p:cNvPr id="38" name="Circle: Hollow 19">
            <a:extLst>
              <a:ext uri="{FF2B5EF4-FFF2-40B4-BE49-F238E27FC236}">
                <a16:creationId xmlns:a16="http://schemas.microsoft.com/office/drawing/2014/main" id="{41A4D3BB-91E6-89CC-DF76-E5E52CD7AFB1}"/>
              </a:ext>
            </a:extLst>
          </p:cNvPr>
          <p:cNvSpPr/>
          <p:nvPr/>
        </p:nvSpPr>
        <p:spPr>
          <a:xfrm>
            <a:off x="4083037" y="98262"/>
            <a:ext cx="342900" cy="342900"/>
          </a:xfrm>
          <a:prstGeom prst="donut">
            <a:avLst>
              <a:gd name="adj" fmla="val 7542"/>
            </a:avLst>
          </a:prstGeom>
          <a:solidFill>
            <a:srgbClr val="D2D5D3"/>
          </a:solidFill>
          <a:ln>
            <a:solidFill>
              <a:srgbClr val="D2D5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>
                    <a:lumMod val="76000"/>
                  </a:schemeClr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ED7239CA-DDDD-4C4D-EBD7-8C2C265BCA7C}"/>
              </a:ext>
            </a:extLst>
          </p:cNvPr>
          <p:cNvSpPr txBox="1"/>
          <p:nvPr/>
        </p:nvSpPr>
        <p:spPr>
          <a:xfrm>
            <a:off x="4432640" y="27393"/>
            <a:ext cx="16745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chemeClr val="bg1">
                    <a:lumMod val="76000"/>
                  </a:schemeClr>
                </a:solidFill>
              </a:rPr>
              <a:t>Communication &amp; implementation</a:t>
            </a:r>
            <a:endParaRPr lang="fr-FR">
              <a:solidFill>
                <a:schemeClr val="bg1">
                  <a:lumMod val="76000"/>
                </a:schemeClr>
              </a:solidFill>
            </a:endParaRPr>
          </a:p>
        </p:txBody>
      </p:sp>
      <p:sp>
        <p:nvSpPr>
          <p:cNvPr id="42" name="Circle: Hollow 22">
            <a:extLst>
              <a:ext uri="{FF2B5EF4-FFF2-40B4-BE49-F238E27FC236}">
                <a16:creationId xmlns:a16="http://schemas.microsoft.com/office/drawing/2014/main" id="{371A63FB-9623-9791-FC28-7131320833DD}"/>
              </a:ext>
            </a:extLst>
          </p:cNvPr>
          <p:cNvSpPr/>
          <p:nvPr/>
        </p:nvSpPr>
        <p:spPr>
          <a:xfrm>
            <a:off x="6456861" y="127198"/>
            <a:ext cx="342900" cy="342900"/>
          </a:xfrm>
          <a:prstGeom prst="donut">
            <a:avLst>
              <a:gd name="adj" fmla="val 7542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rgbClr val="D2D5D3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DA4128AF-B0C7-3C1C-0C7D-A6EE412A12EA}"/>
              </a:ext>
            </a:extLst>
          </p:cNvPr>
          <p:cNvSpPr txBox="1"/>
          <p:nvPr/>
        </p:nvSpPr>
        <p:spPr>
          <a:xfrm>
            <a:off x="6809407" y="126176"/>
            <a:ext cx="1442826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>
                <a:solidFill>
                  <a:srgbClr val="D2D5D3"/>
                </a:solidFill>
              </a:rPr>
              <a:t>Lamport clock</a:t>
            </a:r>
            <a:endParaRPr lang="fr-FR">
              <a:solidFill>
                <a:srgbClr val="D2D5D3"/>
              </a:solidFill>
            </a:endParaRPr>
          </a:p>
        </p:txBody>
      </p:sp>
      <p:sp>
        <p:nvSpPr>
          <p:cNvPr id="46" name="Circle: Hollow 9">
            <a:extLst>
              <a:ext uri="{FF2B5EF4-FFF2-40B4-BE49-F238E27FC236}">
                <a16:creationId xmlns:a16="http://schemas.microsoft.com/office/drawing/2014/main" id="{8E926F76-BE7C-628B-9C7D-72F3E692071B}"/>
              </a:ext>
            </a:extLst>
          </p:cNvPr>
          <p:cNvSpPr/>
          <p:nvPr/>
        </p:nvSpPr>
        <p:spPr>
          <a:xfrm>
            <a:off x="8661019" y="111830"/>
            <a:ext cx="342900" cy="342900"/>
          </a:xfrm>
          <a:prstGeom prst="donut">
            <a:avLst>
              <a:gd name="adj" fmla="val 7542"/>
            </a:avLst>
          </a:prstGeom>
          <a:solidFill>
            <a:srgbClr val="7C9ED7"/>
          </a:solidFill>
          <a:ln>
            <a:solidFill>
              <a:srgbClr val="7C9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48" name="TextBox 16">
            <a:extLst>
              <a:ext uri="{FF2B5EF4-FFF2-40B4-BE49-F238E27FC236}">
                <a16:creationId xmlns:a16="http://schemas.microsoft.com/office/drawing/2014/main" id="{192B1962-D247-A3DF-6C5B-B910CB06F5C8}"/>
              </a:ext>
            </a:extLst>
          </p:cNvPr>
          <p:cNvSpPr txBox="1"/>
          <p:nvPr/>
        </p:nvSpPr>
        <p:spPr>
          <a:xfrm>
            <a:off x="9003919" y="116531"/>
            <a:ext cx="189616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 err="1">
                <a:solidFill>
                  <a:srgbClr val="1279C5"/>
                </a:solidFill>
              </a:rPr>
              <a:t>Results</a:t>
            </a:r>
            <a:r>
              <a:rPr lang="fr-FR" sz="1400" dirty="0">
                <a:solidFill>
                  <a:srgbClr val="1279C5"/>
                </a:solidFill>
              </a:rPr>
              <a:t> &amp; Conclusion</a:t>
            </a:r>
            <a:endParaRPr lang="fr-FR" sz="1400" noProof="0" dirty="0">
              <a:solidFill>
                <a:srgbClr val="1279C5"/>
              </a:solidFill>
            </a:endParaRPr>
          </a:p>
        </p:txBody>
      </p:sp>
      <p:sp>
        <p:nvSpPr>
          <p:cNvPr id="50" name="Circle: Hollow 11">
            <a:extLst>
              <a:ext uri="{FF2B5EF4-FFF2-40B4-BE49-F238E27FC236}">
                <a16:creationId xmlns:a16="http://schemas.microsoft.com/office/drawing/2014/main" id="{A6FFBD82-424A-CE8E-81B8-949FBDFD0D4D}"/>
              </a:ext>
            </a:extLst>
          </p:cNvPr>
          <p:cNvSpPr/>
          <p:nvPr/>
        </p:nvSpPr>
        <p:spPr>
          <a:xfrm>
            <a:off x="2206182" y="111654"/>
            <a:ext cx="342900" cy="342900"/>
          </a:xfrm>
          <a:prstGeom prst="donut">
            <a:avLst>
              <a:gd name="adj" fmla="val 7542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noProof="0" dirty="0">
                <a:solidFill>
                  <a:schemeClr val="bg1">
                    <a:lumMod val="76000"/>
                  </a:schemeClr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52" name="TextBox 16">
            <a:extLst>
              <a:ext uri="{FF2B5EF4-FFF2-40B4-BE49-F238E27FC236}">
                <a16:creationId xmlns:a16="http://schemas.microsoft.com/office/drawing/2014/main" id="{60C93FB0-06F5-1A2E-FA78-57D6CF46B49A}"/>
              </a:ext>
            </a:extLst>
          </p:cNvPr>
          <p:cNvSpPr txBox="1"/>
          <p:nvPr/>
        </p:nvSpPr>
        <p:spPr>
          <a:xfrm>
            <a:off x="2526643" y="33293"/>
            <a:ext cx="1295849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400" dirty="0">
                <a:solidFill>
                  <a:schemeClr val="bg1">
                    <a:lumMod val="76000"/>
                  </a:schemeClr>
                </a:solidFill>
              </a:rPr>
              <a:t>Sys. </a:t>
            </a:r>
            <a:r>
              <a:rPr lang="fr-FR" sz="1400" err="1">
                <a:solidFill>
                  <a:schemeClr val="bg1">
                    <a:lumMod val="76000"/>
                  </a:schemeClr>
                </a:solidFill>
              </a:rPr>
              <a:t>Overview</a:t>
            </a:r>
            <a:r>
              <a:rPr lang="fr-FR" sz="1400" dirty="0">
                <a:solidFill>
                  <a:schemeClr val="bg1">
                    <a:lumMod val="76000"/>
                  </a:schemeClr>
                </a:solidFill>
              </a:rPr>
              <a:t>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6116032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82168-5A06-9596-8B21-490701608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DF6A8FF1-E960-4825-94FE-6ADDE44F25B4}"/>
              </a:ext>
            </a:extLst>
          </p:cNvPr>
          <p:cNvSpPr/>
          <p:nvPr/>
        </p:nvSpPr>
        <p:spPr>
          <a:xfrm>
            <a:off x="850334" y="1432754"/>
            <a:ext cx="10227302" cy="4644180"/>
          </a:xfrm>
          <a:prstGeom prst="roundRect">
            <a:avLst>
              <a:gd name="adj" fmla="val 6886"/>
            </a:avLst>
          </a:prstGeom>
          <a:solidFill>
            <a:srgbClr val="F0F5F3"/>
          </a:solidFill>
          <a:ln>
            <a:noFill/>
          </a:ln>
          <a:effectLst>
            <a:outerShdw blurRad="711200" sx="105000" sy="105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C6259B-5538-CE0A-2C93-31DEFDC8C299}"/>
              </a:ext>
            </a:extLst>
          </p:cNvPr>
          <p:cNvSpPr/>
          <p:nvPr/>
        </p:nvSpPr>
        <p:spPr>
          <a:xfrm>
            <a:off x="1036803" y="5138720"/>
            <a:ext cx="938488" cy="923419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700000" sx="117000" sy="117000" algn="tl" rotWithShape="0">
              <a:srgbClr val="017E84">
                <a:alpha val="23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31247CC-9280-5398-1FE2-D93379C1DB4E}"/>
              </a:ext>
            </a:extLst>
          </p:cNvPr>
          <p:cNvSpPr/>
          <p:nvPr/>
        </p:nvSpPr>
        <p:spPr>
          <a:xfrm>
            <a:off x="1506047" y="595266"/>
            <a:ext cx="1332951" cy="1325997"/>
          </a:xfrm>
          <a:prstGeom prst="ellipse">
            <a:avLst/>
          </a:prstGeom>
          <a:solidFill>
            <a:srgbClr val="1279C5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67340B1-1E70-36B8-E3A7-4FF980F17635}"/>
              </a:ext>
            </a:extLst>
          </p:cNvPr>
          <p:cNvSpPr/>
          <p:nvPr/>
        </p:nvSpPr>
        <p:spPr>
          <a:xfrm>
            <a:off x="9731723" y="4487033"/>
            <a:ext cx="1943100" cy="1876425"/>
          </a:xfrm>
          <a:prstGeom prst="ellipse">
            <a:avLst/>
          </a:prstGeom>
          <a:solidFill>
            <a:srgbClr val="F0F5F3"/>
          </a:solidFill>
          <a:ln>
            <a:noFill/>
          </a:ln>
          <a:effectLst>
            <a:outerShdw blurRad="457200" dist="177800" dir="5400000" sx="102000" sy="102000" algn="t" rotWithShape="0">
              <a:schemeClr val="bg2">
                <a:lumMod val="75000"/>
                <a:alpha val="40000"/>
              </a:scheme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4CB213-CDC6-06F9-8E26-5969B7D84961}"/>
              </a:ext>
            </a:extLst>
          </p:cNvPr>
          <p:cNvSpPr txBox="1"/>
          <p:nvPr/>
        </p:nvSpPr>
        <p:spPr>
          <a:xfrm>
            <a:off x="4523348" y="3192644"/>
            <a:ext cx="287988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3600" b="1">
                <a:latin typeface="Segoe UI"/>
                <a:cs typeface="Segoe UI"/>
              </a:rPr>
              <a:t>Thank you</a:t>
            </a:r>
            <a:endParaRPr lang="fr-FR" sz="3600" b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7E5395F-FAA3-5003-F74E-C9D27647D03E}"/>
              </a:ext>
            </a:extLst>
          </p:cNvPr>
          <p:cNvSpPr/>
          <p:nvPr/>
        </p:nvSpPr>
        <p:spPr>
          <a:xfrm>
            <a:off x="9561665" y="1578362"/>
            <a:ext cx="342900" cy="342901"/>
          </a:xfrm>
          <a:prstGeom prst="ellipse">
            <a:avLst/>
          </a:prstGeom>
          <a:solidFill>
            <a:srgbClr val="7C9ED7"/>
          </a:solidFill>
          <a:ln>
            <a:noFill/>
          </a:ln>
          <a:effectLst>
            <a:outerShdw blurRad="292100" dist="38100" dir="21540000" sx="107000" sy="107000" rotWithShape="0">
              <a:srgbClr val="714B67">
                <a:alpha val="4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916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2695</TotalTime>
  <Words>430</Words>
  <Application>Microsoft Office PowerPoint</Application>
  <PresentationFormat>Grand écran</PresentationFormat>
  <Paragraphs>224</Paragraphs>
  <Slides>23</Slides>
  <Notes>4</Notes>
  <HiddenSlides>0</HiddenSlides>
  <MMClips>1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4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maramdhahri</dc:creator>
  <cp:lastModifiedBy>baha hamrouni</cp:lastModifiedBy>
  <cp:revision>804</cp:revision>
  <dcterms:created xsi:type="dcterms:W3CDTF">2025-06-18T23:56:41Z</dcterms:created>
  <dcterms:modified xsi:type="dcterms:W3CDTF">2025-12-18T23:59:48Z</dcterms:modified>
</cp:coreProperties>
</file>